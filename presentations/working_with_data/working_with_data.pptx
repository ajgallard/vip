
<file path=[Content_Types].xml><?xml version="1.0" encoding="utf-8"?>
<Types xmlns="http://schemas.openxmlformats.org/package/2006/content-types">
  <Default Extension="com" ContentType="image/jpeg"/>
  <Default Extension="jpeg" ContentType="image/jpeg"/>
  <Default Extension="jpeg&amp;f=1&amp;nofb=1&amp;ipt=0481401b8a25b533ffa1d3361fc8897e79bdc6deb4395b496f19f7c25dd9eddd&amp;ipo=images" ContentType="image/jpeg"/>
  <Default Extension="jpg" ContentType="image/jpeg"/>
  <Default Extension="jpg&amp;f=1&amp;nofb=1&amp;ipt=2e4c7083dde820c9f1418dda701e641600583c54e6086b11ed4135f421c69b69&amp;ipo=images" ContentType="image/jpeg"/>
  <Default Extension="jpg&amp;f=1&amp;nofb=1&amp;ipt=dddd11dac8002753fc91236a153da4517c1a78ec36b488d48d6cab939a519c41&amp;ipo=images" ContentType="image/jpeg"/>
  <Default Extension="png" ContentType="image/png"/>
  <Default Extension="png&amp;f=1&amp;nofb=1&amp;ipt=14138805bc89b4c88b70c0585410e1182f28c3349b3e6a87c6e518d28aafb5a3&amp;ipo=images" ContentType="image/png"/>
  <Default Extension="png&amp;f=1&amp;nofb=1&amp;ipt=1fb51d2caf536a7cc1b95c9888a0ed58723ce2f50de4878837183fa019b2f2b3&amp;ipo=images" ContentType="image/png"/>
  <Default Extension="png&amp;f=1&amp;nofb=1&amp;ipt=39b0bc1154555866b09e3acd84ea24fc3824975de30a2d1bcc16b03a95acc5f9&amp;ipo=images" ContentType="image/png"/>
  <Default Extension="png&amp;f=1&amp;nofb=1&amp;ipt=cb7bf839998088d8102b00e3041fa433a535fa92a4755866f169dcf8857ddd6a&amp;ipo=images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  <p:sldMasterId id="2147483678" r:id="rId5"/>
    <p:sldMasterId id="2147483683" r:id="rId6"/>
  </p:sldMasterIdLst>
  <p:notesMasterIdLst>
    <p:notesMasterId r:id="rId54"/>
  </p:notesMasterIdLst>
  <p:sldIdLst>
    <p:sldId id="307" r:id="rId7"/>
    <p:sldId id="337" r:id="rId8"/>
    <p:sldId id="310" r:id="rId9"/>
    <p:sldId id="311" r:id="rId10"/>
    <p:sldId id="336" r:id="rId11"/>
    <p:sldId id="338" r:id="rId12"/>
    <p:sldId id="340" r:id="rId13"/>
    <p:sldId id="341" r:id="rId14"/>
    <p:sldId id="339" r:id="rId15"/>
    <p:sldId id="262" r:id="rId16"/>
    <p:sldId id="281" r:id="rId17"/>
    <p:sldId id="320" r:id="rId18"/>
    <p:sldId id="321" r:id="rId19"/>
    <p:sldId id="342" r:id="rId20"/>
    <p:sldId id="282" r:id="rId21"/>
    <p:sldId id="283" r:id="rId22"/>
    <p:sldId id="343" r:id="rId23"/>
    <p:sldId id="329" r:id="rId24"/>
    <p:sldId id="335" r:id="rId25"/>
    <p:sldId id="347" r:id="rId26"/>
    <p:sldId id="344" r:id="rId27"/>
    <p:sldId id="351" r:id="rId28"/>
    <p:sldId id="352" r:id="rId29"/>
    <p:sldId id="346" r:id="rId30"/>
    <p:sldId id="348" r:id="rId31"/>
    <p:sldId id="349" r:id="rId32"/>
    <p:sldId id="353" r:id="rId33"/>
    <p:sldId id="278" r:id="rId34"/>
    <p:sldId id="277" r:id="rId35"/>
    <p:sldId id="287" r:id="rId36"/>
    <p:sldId id="332" r:id="rId37"/>
    <p:sldId id="345" r:id="rId38"/>
    <p:sldId id="354" r:id="rId39"/>
    <p:sldId id="355" r:id="rId40"/>
    <p:sldId id="322" r:id="rId41"/>
    <p:sldId id="330" r:id="rId42"/>
    <p:sldId id="285" r:id="rId43"/>
    <p:sldId id="276" r:id="rId44"/>
    <p:sldId id="357" r:id="rId45"/>
    <p:sldId id="289" r:id="rId46"/>
    <p:sldId id="333" r:id="rId47"/>
    <p:sldId id="334" r:id="rId48"/>
    <p:sldId id="290" r:id="rId49"/>
    <p:sldId id="358" r:id="rId50"/>
    <p:sldId id="292" r:id="rId51"/>
    <p:sldId id="271" r:id="rId52"/>
    <p:sldId id="32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theme" Target="theme/theme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sv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F85238-5BA9-4BE5-BA60-EBA2432B3ED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752BC0-BB16-47EF-B6AC-5A2312510A4B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BUILD</a:t>
          </a:r>
        </a:p>
      </dgm:t>
    </dgm:pt>
    <dgm:pt modelId="{82653AC9-6480-4C64-A2E6-FEA9FD4D1E80}" type="parTrans" cxnId="{8AD80741-49D0-474B-BD23-529F354244FB}">
      <dgm:prSet/>
      <dgm:spPr/>
      <dgm:t>
        <a:bodyPr/>
        <a:lstStyle/>
        <a:p>
          <a:endParaRPr lang="en-US"/>
        </a:p>
      </dgm:t>
    </dgm:pt>
    <dgm:pt modelId="{65FA800B-9E9B-4A48-B540-C172115DED5B}" type="sibTrans" cxnId="{8AD80741-49D0-474B-BD23-529F354244FB}">
      <dgm:prSet/>
      <dgm:spPr/>
      <dgm:t>
        <a:bodyPr/>
        <a:lstStyle/>
        <a:p>
          <a:endParaRPr lang="en-US"/>
        </a:p>
      </dgm:t>
    </dgm:pt>
    <dgm:pt modelId="{BE645960-5F88-4733-B45C-BCFF6A922377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SHOW</a:t>
          </a:r>
        </a:p>
      </dgm:t>
    </dgm:pt>
    <dgm:pt modelId="{D7AC95C3-1CE8-4474-8DE9-C4950C2143AE}" type="parTrans" cxnId="{825F097F-38FC-4D48-B9DB-53F2242BCA95}">
      <dgm:prSet/>
      <dgm:spPr/>
      <dgm:t>
        <a:bodyPr/>
        <a:lstStyle/>
        <a:p>
          <a:endParaRPr lang="en-US"/>
        </a:p>
      </dgm:t>
    </dgm:pt>
    <dgm:pt modelId="{04A0A8D3-EDE9-4200-9C45-42F56402429E}" type="sibTrans" cxnId="{825F097F-38FC-4D48-B9DB-53F2242BCA95}">
      <dgm:prSet/>
      <dgm:spPr/>
      <dgm:t>
        <a:bodyPr/>
        <a:lstStyle/>
        <a:p>
          <a:endParaRPr lang="en-US"/>
        </a:p>
      </dgm:t>
    </dgm:pt>
    <dgm:pt modelId="{D8D1C133-D393-4FD8-BC94-FC328F0C9A71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EXPLORE</a:t>
          </a:r>
        </a:p>
      </dgm:t>
    </dgm:pt>
    <dgm:pt modelId="{0007C063-1147-45F2-AB16-48A469B6FE86}" type="parTrans" cxnId="{49F6CF2A-7E23-4B2A-B1E4-30D2CBBCFEBB}">
      <dgm:prSet/>
      <dgm:spPr/>
      <dgm:t>
        <a:bodyPr/>
        <a:lstStyle/>
        <a:p>
          <a:endParaRPr lang="en-US"/>
        </a:p>
      </dgm:t>
    </dgm:pt>
    <dgm:pt modelId="{CBDC5C27-36A1-4286-80BC-A1C46E6789C9}" type="sibTrans" cxnId="{49F6CF2A-7E23-4B2A-B1E4-30D2CBBCFEBB}">
      <dgm:prSet/>
      <dgm:spPr/>
      <dgm:t>
        <a:bodyPr/>
        <a:lstStyle/>
        <a:p>
          <a:endParaRPr lang="en-US"/>
        </a:p>
      </dgm:t>
    </dgm:pt>
    <dgm:pt modelId="{7D9C163C-D369-4255-88D4-B907CE97D280}" type="pres">
      <dgm:prSet presAssocID="{BAF85238-5BA9-4BE5-BA60-EBA2432B3EDA}" presName="root" presStyleCnt="0">
        <dgm:presLayoutVars>
          <dgm:dir/>
          <dgm:resizeHandles val="exact"/>
        </dgm:presLayoutVars>
      </dgm:prSet>
      <dgm:spPr/>
    </dgm:pt>
    <dgm:pt modelId="{A1EDCEDB-C0BF-4E78-B9F4-8E428693C730}" type="pres">
      <dgm:prSet presAssocID="{D8D1C133-D393-4FD8-BC94-FC328F0C9A71}" presName="compNode" presStyleCnt="0"/>
      <dgm:spPr/>
    </dgm:pt>
    <dgm:pt modelId="{3C8DA2F3-0B53-4B60-96DA-D40EA3E7AB34}" type="pres">
      <dgm:prSet presAssocID="{D8D1C133-D393-4FD8-BC94-FC328F0C9A7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  <a:solidFill>
          <a:srgbClr val="92D050"/>
        </a:solidFill>
      </dgm:spPr>
    </dgm:pt>
    <dgm:pt modelId="{431BB1AD-F20D-4495-8FD5-87BF2CAF768F}" type="pres">
      <dgm:prSet presAssocID="{D8D1C133-D393-4FD8-BC94-FC328F0C9A71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meleon with solid fill"/>
        </a:ext>
      </dgm:extLst>
    </dgm:pt>
    <dgm:pt modelId="{3498A2EB-82F3-4520-9A27-07AAF5C844E5}" type="pres">
      <dgm:prSet presAssocID="{D8D1C133-D393-4FD8-BC94-FC328F0C9A71}" presName="spaceRect" presStyleCnt="0"/>
      <dgm:spPr/>
    </dgm:pt>
    <dgm:pt modelId="{B8B24261-580D-4956-83C9-E107305CFABA}" type="pres">
      <dgm:prSet presAssocID="{D8D1C133-D393-4FD8-BC94-FC328F0C9A71}" presName="textRect" presStyleLbl="revTx" presStyleIdx="0" presStyleCnt="3">
        <dgm:presLayoutVars>
          <dgm:chMax val="1"/>
          <dgm:chPref val="1"/>
        </dgm:presLayoutVars>
      </dgm:prSet>
      <dgm:spPr/>
    </dgm:pt>
    <dgm:pt modelId="{4F2C91E6-EE24-4930-BD99-D725A17D2BEF}" type="pres">
      <dgm:prSet presAssocID="{CBDC5C27-36A1-4286-80BC-A1C46E6789C9}" presName="sibTrans" presStyleCnt="0"/>
      <dgm:spPr/>
    </dgm:pt>
    <dgm:pt modelId="{DF549F0C-1D19-45C5-A462-627B19B85D05}" type="pres">
      <dgm:prSet presAssocID="{AD752BC0-BB16-47EF-B6AC-5A2312510A4B}" presName="compNode" presStyleCnt="0"/>
      <dgm:spPr/>
    </dgm:pt>
    <dgm:pt modelId="{26BAEEE5-C56F-46D8-BC5F-B94E86F0E05A}" type="pres">
      <dgm:prSet presAssocID="{AD752BC0-BB16-47EF-B6AC-5A2312510A4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90000"/>
          </a:schemeClr>
        </a:solidFill>
      </dgm:spPr>
    </dgm:pt>
    <dgm:pt modelId="{CBAE894D-D79A-4D60-AB15-36F9EF405B76}" type="pres">
      <dgm:prSet presAssocID="{AD752BC0-BB16-47EF-B6AC-5A2312510A4B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96C39FD5-43B1-414A-86C8-3BF139261B20}" type="pres">
      <dgm:prSet presAssocID="{AD752BC0-BB16-47EF-B6AC-5A2312510A4B}" presName="spaceRect" presStyleCnt="0"/>
      <dgm:spPr/>
    </dgm:pt>
    <dgm:pt modelId="{5A628B78-5A6D-4AC3-800E-23B4F065892A}" type="pres">
      <dgm:prSet presAssocID="{AD752BC0-BB16-47EF-B6AC-5A2312510A4B}" presName="textRect" presStyleLbl="revTx" presStyleIdx="1" presStyleCnt="3">
        <dgm:presLayoutVars>
          <dgm:chMax val="1"/>
          <dgm:chPref val="1"/>
        </dgm:presLayoutVars>
      </dgm:prSet>
      <dgm:spPr/>
    </dgm:pt>
    <dgm:pt modelId="{FD13124E-C3EE-4DFA-BAAD-911130D9E723}" type="pres">
      <dgm:prSet presAssocID="{65FA800B-9E9B-4A48-B540-C172115DED5B}" presName="sibTrans" presStyleCnt="0"/>
      <dgm:spPr/>
    </dgm:pt>
    <dgm:pt modelId="{E0BF05E5-4224-420D-8175-B9373F09136A}" type="pres">
      <dgm:prSet presAssocID="{BE645960-5F88-4733-B45C-BCFF6A922377}" presName="compNode" presStyleCnt="0"/>
      <dgm:spPr/>
    </dgm:pt>
    <dgm:pt modelId="{C0237C6B-A487-4042-BF7D-A7487D5315F8}" type="pres">
      <dgm:prSet presAssocID="{BE645960-5F88-4733-B45C-BCFF6A92237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9D2FD22-AAE2-464F-946D-2C2C906A5804}" type="pres">
      <dgm:prSet presAssocID="{BE645960-5F88-4733-B45C-BCFF6A922377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01F4E3DA-9FEE-47D7-ACBB-8386AB5E69EC}" type="pres">
      <dgm:prSet presAssocID="{BE645960-5F88-4733-B45C-BCFF6A922377}" presName="spaceRect" presStyleCnt="0"/>
      <dgm:spPr/>
    </dgm:pt>
    <dgm:pt modelId="{FCFB221F-5C0C-4A5D-B7AA-31E1E6D509E5}" type="pres">
      <dgm:prSet presAssocID="{BE645960-5F88-4733-B45C-BCFF6A92237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9B5AD17-EED0-42A6-9263-F76299C0B712}" type="presOf" srcId="{BAF85238-5BA9-4BE5-BA60-EBA2432B3EDA}" destId="{7D9C163C-D369-4255-88D4-B907CE97D280}" srcOrd="0" destOrd="0" presId="urn:microsoft.com/office/officeart/2018/5/layout/IconLeafLabelList"/>
    <dgm:cxn modelId="{49F6CF2A-7E23-4B2A-B1E4-30D2CBBCFEBB}" srcId="{BAF85238-5BA9-4BE5-BA60-EBA2432B3EDA}" destId="{D8D1C133-D393-4FD8-BC94-FC328F0C9A71}" srcOrd="0" destOrd="0" parTransId="{0007C063-1147-45F2-AB16-48A469B6FE86}" sibTransId="{CBDC5C27-36A1-4286-80BC-A1C46E6789C9}"/>
    <dgm:cxn modelId="{8AD80741-49D0-474B-BD23-529F354244FB}" srcId="{BAF85238-5BA9-4BE5-BA60-EBA2432B3EDA}" destId="{AD752BC0-BB16-47EF-B6AC-5A2312510A4B}" srcOrd="1" destOrd="0" parTransId="{82653AC9-6480-4C64-A2E6-FEA9FD4D1E80}" sibTransId="{65FA800B-9E9B-4A48-B540-C172115DED5B}"/>
    <dgm:cxn modelId="{A32EDA6E-E79A-44C5-9921-866E4DFAB601}" type="presOf" srcId="{BE645960-5F88-4733-B45C-BCFF6A922377}" destId="{FCFB221F-5C0C-4A5D-B7AA-31E1E6D509E5}" srcOrd="0" destOrd="0" presId="urn:microsoft.com/office/officeart/2018/5/layout/IconLeafLabelList"/>
    <dgm:cxn modelId="{825F097F-38FC-4D48-B9DB-53F2242BCA95}" srcId="{BAF85238-5BA9-4BE5-BA60-EBA2432B3EDA}" destId="{BE645960-5F88-4733-B45C-BCFF6A922377}" srcOrd="2" destOrd="0" parTransId="{D7AC95C3-1CE8-4474-8DE9-C4950C2143AE}" sibTransId="{04A0A8D3-EDE9-4200-9C45-42F56402429E}"/>
    <dgm:cxn modelId="{42E8C49C-0F0E-417A-995F-5344518D1958}" type="presOf" srcId="{D8D1C133-D393-4FD8-BC94-FC328F0C9A71}" destId="{B8B24261-580D-4956-83C9-E107305CFABA}" srcOrd="0" destOrd="0" presId="urn:microsoft.com/office/officeart/2018/5/layout/IconLeafLabelList"/>
    <dgm:cxn modelId="{8516F9B4-C71E-4328-8E20-0236EC9F61A1}" type="presOf" srcId="{AD752BC0-BB16-47EF-B6AC-5A2312510A4B}" destId="{5A628B78-5A6D-4AC3-800E-23B4F065892A}" srcOrd="0" destOrd="0" presId="urn:microsoft.com/office/officeart/2018/5/layout/IconLeafLabelList"/>
    <dgm:cxn modelId="{BE4F8E23-4580-4D65-9656-8FDE96AE6469}" type="presParOf" srcId="{7D9C163C-D369-4255-88D4-B907CE97D280}" destId="{A1EDCEDB-C0BF-4E78-B9F4-8E428693C730}" srcOrd="0" destOrd="0" presId="urn:microsoft.com/office/officeart/2018/5/layout/IconLeafLabelList"/>
    <dgm:cxn modelId="{F50C672A-E59A-4B45-A44D-9F81F4727864}" type="presParOf" srcId="{A1EDCEDB-C0BF-4E78-B9F4-8E428693C730}" destId="{3C8DA2F3-0B53-4B60-96DA-D40EA3E7AB34}" srcOrd="0" destOrd="0" presId="urn:microsoft.com/office/officeart/2018/5/layout/IconLeafLabelList"/>
    <dgm:cxn modelId="{ABC26955-C622-4CFD-B5C8-48DBC7AA343B}" type="presParOf" srcId="{A1EDCEDB-C0BF-4E78-B9F4-8E428693C730}" destId="{431BB1AD-F20D-4495-8FD5-87BF2CAF768F}" srcOrd="1" destOrd="0" presId="urn:microsoft.com/office/officeart/2018/5/layout/IconLeafLabelList"/>
    <dgm:cxn modelId="{E62D49D3-7B2D-4271-9FAA-810AB17BDD4D}" type="presParOf" srcId="{A1EDCEDB-C0BF-4E78-B9F4-8E428693C730}" destId="{3498A2EB-82F3-4520-9A27-07AAF5C844E5}" srcOrd="2" destOrd="0" presId="urn:microsoft.com/office/officeart/2018/5/layout/IconLeafLabelList"/>
    <dgm:cxn modelId="{B5AA1C35-93C5-4231-B81F-C4DAACBD753C}" type="presParOf" srcId="{A1EDCEDB-C0BF-4E78-B9F4-8E428693C730}" destId="{B8B24261-580D-4956-83C9-E107305CFABA}" srcOrd="3" destOrd="0" presId="urn:microsoft.com/office/officeart/2018/5/layout/IconLeafLabelList"/>
    <dgm:cxn modelId="{C7B77ADD-F1A6-4CA2-A6D7-E0A34535DEAA}" type="presParOf" srcId="{7D9C163C-D369-4255-88D4-B907CE97D280}" destId="{4F2C91E6-EE24-4930-BD99-D725A17D2BEF}" srcOrd="1" destOrd="0" presId="urn:microsoft.com/office/officeart/2018/5/layout/IconLeafLabelList"/>
    <dgm:cxn modelId="{6800C160-1761-470D-9716-A328AF565FBF}" type="presParOf" srcId="{7D9C163C-D369-4255-88D4-B907CE97D280}" destId="{DF549F0C-1D19-45C5-A462-627B19B85D05}" srcOrd="2" destOrd="0" presId="urn:microsoft.com/office/officeart/2018/5/layout/IconLeafLabelList"/>
    <dgm:cxn modelId="{97E5DF31-AF85-4FAC-98EB-2CC2726FDC3D}" type="presParOf" srcId="{DF549F0C-1D19-45C5-A462-627B19B85D05}" destId="{26BAEEE5-C56F-46D8-BC5F-B94E86F0E05A}" srcOrd="0" destOrd="0" presId="urn:microsoft.com/office/officeart/2018/5/layout/IconLeafLabelList"/>
    <dgm:cxn modelId="{76A9947F-ED32-45C6-9881-33FE15314649}" type="presParOf" srcId="{DF549F0C-1D19-45C5-A462-627B19B85D05}" destId="{CBAE894D-D79A-4D60-AB15-36F9EF405B76}" srcOrd="1" destOrd="0" presId="urn:microsoft.com/office/officeart/2018/5/layout/IconLeafLabelList"/>
    <dgm:cxn modelId="{106F090B-1096-459A-9E19-EBD3758D7EF5}" type="presParOf" srcId="{DF549F0C-1D19-45C5-A462-627B19B85D05}" destId="{96C39FD5-43B1-414A-86C8-3BF139261B20}" srcOrd="2" destOrd="0" presId="urn:microsoft.com/office/officeart/2018/5/layout/IconLeafLabelList"/>
    <dgm:cxn modelId="{A2E055AF-57D0-4006-A02F-06817A3DB9BF}" type="presParOf" srcId="{DF549F0C-1D19-45C5-A462-627B19B85D05}" destId="{5A628B78-5A6D-4AC3-800E-23B4F065892A}" srcOrd="3" destOrd="0" presId="urn:microsoft.com/office/officeart/2018/5/layout/IconLeafLabelList"/>
    <dgm:cxn modelId="{281A3FEC-7C6B-453E-B617-1363D106FCEF}" type="presParOf" srcId="{7D9C163C-D369-4255-88D4-B907CE97D280}" destId="{FD13124E-C3EE-4DFA-BAAD-911130D9E723}" srcOrd="3" destOrd="0" presId="urn:microsoft.com/office/officeart/2018/5/layout/IconLeafLabelList"/>
    <dgm:cxn modelId="{98FDC2A9-E610-4E62-8DC5-0EEE31A8D32B}" type="presParOf" srcId="{7D9C163C-D369-4255-88D4-B907CE97D280}" destId="{E0BF05E5-4224-420D-8175-B9373F09136A}" srcOrd="4" destOrd="0" presId="urn:microsoft.com/office/officeart/2018/5/layout/IconLeafLabelList"/>
    <dgm:cxn modelId="{1CDB433A-4F13-443B-9C64-5FDA1F8EE743}" type="presParOf" srcId="{E0BF05E5-4224-420D-8175-B9373F09136A}" destId="{C0237C6B-A487-4042-BF7D-A7487D5315F8}" srcOrd="0" destOrd="0" presId="urn:microsoft.com/office/officeart/2018/5/layout/IconLeafLabelList"/>
    <dgm:cxn modelId="{EF21CB02-29B1-4969-B32A-9E03CCE10954}" type="presParOf" srcId="{E0BF05E5-4224-420D-8175-B9373F09136A}" destId="{09D2FD22-AAE2-464F-946D-2C2C906A5804}" srcOrd="1" destOrd="0" presId="urn:microsoft.com/office/officeart/2018/5/layout/IconLeafLabelList"/>
    <dgm:cxn modelId="{6A8F84C9-1DBA-4D83-BD0B-5CDA294BBABB}" type="presParOf" srcId="{E0BF05E5-4224-420D-8175-B9373F09136A}" destId="{01F4E3DA-9FEE-47D7-ACBB-8386AB5E69EC}" srcOrd="2" destOrd="0" presId="urn:microsoft.com/office/officeart/2018/5/layout/IconLeafLabelList"/>
    <dgm:cxn modelId="{25F9F685-EB67-4C28-981A-337589BB98A8}" type="presParOf" srcId="{E0BF05E5-4224-420D-8175-B9373F09136A}" destId="{FCFB221F-5C0C-4A5D-B7AA-31E1E6D509E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F85238-5BA9-4BE5-BA60-EBA2432B3EDA}" type="doc">
      <dgm:prSet loTypeId="urn:microsoft.com/office/officeart/2018/5/layout/IconLeafLabel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D9C163C-D369-4255-88D4-B907CE97D280}" type="pres">
      <dgm:prSet presAssocID="{BAF85238-5BA9-4BE5-BA60-EBA2432B3EDA}" presName="root" presStyleCnt="0">
        <dgm:presLayoutVars>
          <dgm:dir/>
          <dgm:resizeHandles val="exact"/>
        </dgm:presLayoutVars>
      </dgm:prSet>
      <dgm:spPr/>
    </dgm:pt>
  </dgm:ptLst>
  <dgm:cxnLst>
    <dgm:cxn modelId="{49B5AD17-EED0-42A6-9263-F76299C0B712}" type="presOf" srcId="{BAF85238-5BA9-4BE5-BA60-EBA2432B3EDA}" destId="{7D9C163C-D369-4255-88D4-B907CE97D280}" srcOrd="0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F85238-5BA9-4BE5-BA60-EBA2432B3ED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D8D1C133-D393-4FD8-BC94-FC328F0C9A71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0007C063-1147-45F2-AB16-48A469B6FE86}" type="parTrans" cxnId="{49F6CF2A-7E23-4B2A-B1E4-30D2CBBCFEBB}">
      <dgm:prSet/>
      <dgm:spPr/>
      <dgm:t>
        <a:bodyPr/>
        <a:lstStyle/>
        <a:p>
          <a:endParaRPr lang="en-US"/>
        </a:p>
      </dgm:t>
    </dgm:pt>
    <dgm:pt modelId="{CBDC5C27-36A1-4286-80BC-A1C46E6789C9}" type="sibTrans" cxnId="{49F6CF2A-7E23-4B2A-B1E4-30D2CBBCFEBB}">
      <dgm:prSet/>
      <dgm:spPr/>
      <dgm:t>
        <a:bodyPr/>
        <a:lstStyle/>
        <a:p>
          <a:endParaRPr lang="en-US"/>
        </a:p>
      </dgm:t>
    </dgm:pt>
    <dgm:pt modelId="{7D9C163C-D369-4255-88D4-B907CE97D280}" type="pres">
      <dgm:prSet presAssocID="{BAF85238-5BA9-4BE5-BA60-EBA2432B3EDA}" presName="root" presStyleCnt="0">
        <dgm:presLayoutVars>
          <dgm:dir/>
          <dgm:resizeHandles val="exact"/>
        </dgm:presLayoutVars>
      </dgm:prSet>
      <dgm:spPr/>
    </dgm:pt>
    <dgm:pt modelId="{A1EDCEDB-C0BF-4E78-B9F4-8E428693C730}" type="pres">
      <dgm:prSet presAssocID="{D8D1C133-D393-4FD8-BC94-FC328F0C9A71}" presName="compNode" presStyleCnt="0"/>
      <dgm:spPr/>
    </dgm:pt>
    <dgm:pt modelId="{3C8DA2F3-0B53-4B60-96DA-D40EA3E7AB34}" type="pres">
      <dgm:prSet presAssocID="{D8D1C133-D393-4FD8-BC94-FC328F0C9A71}" presName="iconBgRect" presStyleLbl="bgShp" presStyleIdx="0" presStyleCnt="1"/>
      <dgm:spPr>
        <a:prstGeom prst="round2DiagRect">
          <a:avLst>
            <a:gd name="adj1" fmla="val 29727"/>
            <a:gd name="adj2" fmla="val 0"/>
          </a:avLst>
        </a:prstGeom>
      </dgm:spPr>
    </dgm:pt>
    <dgm:pt modelId="{431BB1AD-F20D-4495-8FD5-87BF2CAF768F}" type="pres">
      <dgm:prSet presAssocID="{D8D1C133-D393-4FD8-BC94-FC328F0C9A71}" presName="iconRect" presStyleLbl="nod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3498A2EB-82F3-4520-9A27-07AAF5C844E5}" type="pres">
      <dgm:prSet presAssocID="{D8D1C133-D393-4FD8-BC94-FC328F0C9A71}" presName="spaceRect" presStyleCnt="0"/>
      <dgm:spPr/>
    </dgm:pt>
    <dgm:pt modelId="{B8B24261-580D-4956-83C9-E107305CFABA}" type="pres">
      <dgm:prSet presAssocID="{D8D1C133-D393-4FD8-BC94-FC328F0C9A71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49B5AD17-EED0-42A6-9263-F76299C0B712}" type="presOf" srcId="{BAF85238-5BA9-4BE5-BA60-EBA2432B3EDA}" destId="{7D9C163C-D369-4255-88D4-B907CE97D280}" srcOrd="0" destOrd="0" presId="urn:microsoft.com/office/officeart/2018/5/layout/IconLeafLabelList"/>
    <dgm:cxn modelId="{49F6CF2A-7E23-4B2A-B1E4-30D2CBBCFEBB}" srcId="{BAF85238-5BA9-4BE5-BA60-EBA2432B3EDA}" destId="{D8D1C133-D393-4FD8-BC94-FC328F0C9A71}" srcOrd="0" destOrd="0" parTransId="{0007C063-1147-45F2-AB16-48A469B6FE86}" sibTransId="{CBDC5C27-36A1-4286-80BC-A1C46E6789C9}"/>
    <dgm:cxn modelId="{42E8C49C-0F0E-417A-995F-5344518D1958}" type="presOf" srcId="{D8D1C133-D393-4FD8-BC94-FC328F0C9A71}" destId="{B8B24261-580D-4956-83C9-E107305CFABA}" srcOrd="0" destOrd="0" presId="urn:microsoft.com/office/officeart/2018/5/layout/IconLeafLabelList"/>
    <dgm:cxn modelId="{BE4F8E23-4580-4D65-9656-8FDE96AE6469}" type="presParOf" srcId="{7D9C163C-D369-4255-88D4-B907CE97D280}" destId="{A1EDCEDB-C0BF-4E78-B9F4-8E428693C730}" srcOrd="0" destOrd="0" presId="urn:microsoft.com/office/officeart/2018/5/layout/IconLeafLabelList"/>
    <dgm:cxn modelId="{F50C672A-E59A-4B45-A44D-9F81F4727864}" type="presParOf" srcId="{A1EDCEDB-C0BF-4E78-B9F4-8E428693C730}" destId="{3C8DA2F3-0B53-4B60-96DA-D40EA3E7AB34}" srcOrd="0" destOrd="0" presId="urn:microsoft.com/office/officeart/2018/5/layout/IconLeafLabelList"/>
    <dgm:cxn modelId="{ABC26955-C622-4CFD-B5C8-48DBC7AA343B}" type="presParOf" srcId="{A1EDCEDB-C0BF-4E78-B9F4-8E428693C730}" destId="{431BB1AD-F20D-4495-8FD5-87BF2CAF768F}" srcOrd="1" destOrd="0" presId="urn:microsoft.com/office/officeart/2018/5/layout/IconLeafLabelList"/>
    <dgm:cxn modelId="{E62D49D3-7B2D-4271-9FAA-810AB17BDD4D}" type="presParOf" srcId="{A1EDCEDB-C0BF-4E78-B9F4-8E428693C730}" destId="{3498A2EB-82F3-4520-9A27-07AAF5C844E5}" srcOrd="2" destOrd="0" presId="urn:microsoft.com/office/officeart/2018/5/layout/IconLeafLabelList"/>
    <dgm:cxn modelId="{B5AA1C35-93C5-4231-B81F-C4DAACBD753C}" type="presParOf" srcId="{A1EDCEDB-C0BF-4E78-B9F4-8E428693C730}" destId="{B8B24261-580D-4956-83C9-E107305CFABA}" srcOrd="3" destOrd="0" presId="urn:microsoft.com/office/officeart/2018/5/layout/IconLeafLabel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F85238-5BA9-4BE5-BA60-EBA2432B3ED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D1C133-D393-4FD8-BC94-FC328F0C9A71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0007C063-1147-45F2-AB16-48A469B6FE86}" type="parTrans" cxnId="{49F6CF2A-7E23-4B2A-B1E4-30D2CBBCFEBB}">
      <dgm:prSet/>
      <dgm:spPr/>
      <dgm:t>
        <a:bodyPr/>
        <a:lstStyle/>
        <a:p>
          <a:endParaRPr lang="en-US"/>
        </a:p>
      </dgm:t>
    </dgm:pt>
    <dgm:pt modelId="{CBDC5C27-36A1-4286-80BC-A1C46E6789C9}" type="sibTrans" cxnId="{49F6CF2A-7E23-4B2A-B1E4-30D2CBBCFEBB}">
      <dgm:prSet/>
      <dgm:spPr/>
      <dgm:t>
        <a:bodyPr/>
        <a:lstStyle/>
        <a:p>
          <a:endParaRPr lang="en-US"/>
        </a:p>
      </dgm:t>
    </dgm:pt>
    <dgm:pt modelId="{7D9C163C-D369-4255-88D4-B907CE97D280}" type="pres">
      <dgm:prSet presAssocID="{BAF85238-5BA9-4BE5-BA60-EBA2432B3EDA}" presName="root" presStyleCnt="0">
        <dgm:presLayoutVars>
          <dgm:dir/>
          <dgm:resizeHandles val="exact"/>
        </dgm:presLayoutVars>
      </dgm:prSet>
      <dgm:spPr/>
    </dgm:pt>
    <dgm:pt modelId="{A1EDCEDB-C0BF-4E78-B9F4-8E428693C730}" type="pres">
      <dgm:prSet presAssocID="{D8D1C133-D393-4FD8-BC94-FC328F0C9A71}" presName="compNode" presStyleCnt="0"/>
      <dgm:spPr/>
    </dgm:pt>
    <dgm:pt modelId="{3C8DA2F3-0B53-4B60-96DA-D40EA3E7AB34}" type="pres">
      <dgm:prSet presAssocID="{D8D1C133-D393-4FD8-BC94-FC328F0C9A71}" presName="iconBgRect" presStyleLbl="bgShp" presStyleIdx="0" presStyleCnt="1"/>
      <dgm:spPr>
        <a:prstGeom prst="round2DiagRect">
          <a:avLst>
            <a:gd name="adj1" fmla="val 29727"/>
            <a:gd name="adj2" fmla="val 0"/>
          </a:avLst>
        </a:prstGeom>
      </dgm:spPr>
    </dgm:pt>
    <dgm:pt modelId="{431BB1AD-F20D-4495-8FD5-87BF2CAF768F}" type="pres">
      <dgm:prSet presAssocID="{D8D1C133-D393-4FD8-BC94-FC328F0C9A71}" presName="iconRect" presStyleLbl="nod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3498A2EB-82F3-4520-9A27-07AAF5C844E5}" type="pres">
      <dgm:prSet presAssocID="{D8D1C133-D393-4FD8-BC94-FC328F0C9A71}" presName="spaceRect" presStyleCnt="0"/>
      <dgm:spPr/>
    </dgm:pt>
    <dgm:pt modelId="{B8B24261-580D-4956-83C9-E107305CFABA}" type="pres">
      <dgm:prSet presAssocID="{D8D1C133-D393-4FD8-BC94-FC328F0C9A71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49B5AD17-EED0-42A6-9263-F76299C0B712}" type="presOf" srcId="{BAF85238-5BA9-4BE5-BA60-EBA2432B3EDA}" destId="{7D9C163C-D369-4255-88D4-B907CE97D280}" srcOrd="0" destOrd="0" presId="urn:microsoft.com/office/officeart/2018/5/layout/IconLeafLabelList"/>
    <dgm:cxn modelId="{49F6CF2A-7E23-4B2A-B1E4-30D2CBBCFEBB}" srcId="{BAF85238-5BA9-4BE5-BA60-EBA2432B3EDA}" destId="{D8D1C133-D393-4FD8-BC94-FC328F0C9A71}" srcOrd="0" destOrd="0" parTransId="{0007C063-1147-45F2-AB16-48A469B6FE86}" sibTransId="{CBDC5C27-36A1-4286-80BC-A1C46E6789C9}"/>
    <dgm:cxn modelId="{42E8C49C-0F0E-417A-995F-5344518D1958}" type="presOf" srcId="{D8D1C133-D393-4FD8-BC94-FC328F0C9A71}" destId="{B8B24261-580D-4956-83C9-E107305CFABA}" srcOrd="0" destOrd="0" presId="urn:microsoft.com/office/officeart/2018/5/layout/IconLeafLabelList"/>
    <dgm:cxn modelId="{BE4F8E23-4580-4D65-9656-8FDE96AE6469}" type="presParOf" srcId="{7D9C163C-D369-4255-88D4-B907CE97D280}" destId="{A1EDCEDB-C0BF-4E78-B9F4-8E428693C730}" srcOrd="0" destOrd="0" presId="urn:microsoft.com/office/officeart/2018/5/layout/IconLeafLabelList"/>
    <dgm:cxn modelId="{F50C672A-E59A-4B45-A44D-9F81F4727864}" type="presParOf" srcId="{A1EDCEDB-C0BF-4E78-B9F4-8E428693C730}" destId="{3C8DA2F3-0B53-4B60-96DA-D40EA3E7AB34}" srcOrd="0" destOrd="0" presId="urn:microsoft.com/office/officeart/2018/5/layout/IconLeafLabelList"/>
    <dgm:cxn modelId="{ABC26955-C622-4CFD-B5C8-48DBC7AA343B}" type="presParOf" srcId="{A1EDCEDB-C0BF-4E78-B9F4-8E428693C730}" destId="{431BB1AD-F20D-4495-8FD5-87BF2CAF768F}" srcOrd="1" destOrd="0" presId="urn:microsoft.com/office/officeart/2018/5/layout/IconLeafLabelList"/>
    <dgm:cxn modelId="{E62D49D3-7B2D-4271-9FAA-810AB17BDD4D}" type="presParOf" srcId="{A1EDCEDB-C0BF-4E78-B9F4-8E428693C730}" destId="{3498A2EB-82F3-4520-9A27-07AAF5C844E5}" srcOrd="2" destOrd="0" presId="urn:microsoft.com/office/officeart/2018/5/layout/IconLeafLabelList"/>
    <dgm:cxn modelId="{B5AA1C35-93C5-4231-B81F-C4DAACBD753C}" type="presParOf" srcId="{A1EDCEDB-C0BF-4E78-B9F4-8E428693C730}" destId="{B8B24261-580D-4956-83C9-E107305CFABA}" srcOrd="3" destOrd="0" presId="urn:microsoft.com/office/officeart/2018/5/layout/IconLeafLabel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F85238-5BA9-4BE5-BA60-EBA2432B3ED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D1C133-D393-4FD8-BC94-FC328F0C9A71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0007C063-1147-45F2-AB16-48A469B6FE86}" type="parTrans" cxnId="{49F6CF2A-7E23-4B2A-B1E4-30D2CBBCFEBB}">
      <dgm:prSet/>
      <dgm:spPr/>
      <dgm:t>
        <a:bodyPr/>
        <a:lstStyle/>
        <a:p>
          <a:endParaRPr lang="en-US"/>
        </a:p>
      </dgm:t>
    </dgm:pt>
    <dgm:pt modelId="{CBDC5C27-36A1-4286-80BC-A1C46E6789C9}" type="sibTrans" cxnId="{49F6CF2A-7E23-4B2A-B1E4-30D2CBBCFEBB}">
      <dgm:prSet/>
      <dgm:spPr/>
      <dgm:t>
        <a:bodyPr/>
        <a:lstStyle/>
        <a:p>
          <a:endParaRPr lang="en-US"/>
        </a:p>
      </dgm:t>
    </dgm:pt>
    <dgm:pt modelId="{7D9C163C-D369-4255-88D4-B907CE97D280}" type="pres">
      <dgm:prSet presAssocID="{BAF85238-5BA9-4BE5-BA60-EBA2432B3EDA}" presName="root" presStyleCnt="0">
        <dgm:presLayoutVars>
          <dgm:dir/>
          <dgm:resizeHandles val="exact"/>
        </dgm:presLayoutVars>
      </dgm:prSet>
      <dgm:spPr/>
    </dgm:pt>
    <dgm:pt modelId="{A1EDCEDB-C0BF-4E78-B9F4-8E428693C730}" type="pres">
      <dgm:prSet presAssocID="{D8D1C133-D393-4FD8-BC94-FC328F0C9A71}" presName="compNode" presStyleCnt="0"/>
      <dgm:spPr/>
    </dgm:pt>
    <dgm:pt modelId="{3C8DA2F3-0B53-4B60-96DA-D40EA3E7AB34}" type="pres">
      <dgm:prSet presAssocID="{D8D1C133-D393-4FD8-BC94-FC328F0C9A71}" presName="iconBgRect" presStyleLbl="bgShp" presStyleIdx="0" presStyleCnt="1"/>
      <dgm:spPr>
        <a:prstGeom prst="round2DiagRect">
          <a:avLst>
            <a:gd name="adj1" fmla="val 29727"/>
            <a:gd name="adj2" fmla="val 0"/>
          </a:avLst>
        </a:prstGeom>
      </dgm:spPr>
    </dgm:pt>
    <dgm:pt modelId="{431BB1AD-F20D-4495-8FD5-87BF2CAF768F}" type="pres">
      <dgm:prSet presAssocID="{D8D1C133-D393-4FD8-BC94-FC328F0C9A71}" presName="iconRect" presStyleLbl="nod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3498A2EB-82F3-4520-9A27-07AAF5C844E5}" type="pres">
      <dgm:prSet presAssocID="{D8D1C133-D393-4FD8-BC94-FC328F0C9A71}" presName="spaceRect" presStyleCnt="0"/>
      <dgm:spPr/>
    </dgm:pt>
    <dgm:pt modelId="{B8B24261-580D-4956-83C9-E107305CFABA}" type="pres">
      <dgm:prSet presAssocID="{D8D1C133-D393-4FD8-BC94-FC328F0C9A71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49B5AD17-EED0-42A6-9263-F76299C0B712}" type="presOf" srcId="{BAF85238-5BA9-4BE5-BA60-EBA2432B3EDA}" destId="{7D9C163C-D369-4255-88D4-B907CE97D280}" srcOrd="0" destOrd="0" presId="urn:microsoft.com/office/officeart/2018/5/layout/IconLeafLabelList"/>
    <dgm:cxn modelId="{49F6CF2A-7E23-4B2A-B1E4-30D2CBBCFEBB}" srcId="{BAF85238-5BA9-4BE5-BA60-EBA2432B3EDA}" destId="{D8D1C133-D393-4FD8-BC94-FC328F0C9A71}" srcOrd="0" destOrd="0" parTransId="{0007C063-1147-45F2-AB16-48A469B6FE86}" sibTransId="{CBDC5C27-36A1-4286-80BC-A1C46E6789C9}"/>
    <dgm:cxn modelId="{42E8C49C-0F0E-417A-995F-5344518D1958}" type="presOf" srcId="{D8D1C133-D393-4FD8-BC94-FC328F0C9A71}" destId="{B8B24261-580D-4956-83C9-E107305CFABA}" srcOrd="0" destOrd="0" presId="urn:microsoft.com/office/officeart/2018/5/layout/IconLeafLabelList"/>
    <dgm:cxn modelId="{BE4F8E23-4580-4D65-9656-8FDE96AE6469}" type="presParOf" srcId="{7D9C163C-D369-4255-88D4-B907CE97D280}" destId="{A1EDCEDB-C0BF-4E78-B9F4-8E428693C730}" srcOrd="0" destOrd="0" presId="urn:microsoft.com/office/officeart/2018/5/layout/IconLeafLabelList"/>
    <dgm:cxn modelId="{F50C672A-E59A-4B45-A44D-9F81F4727864}" type="presParOf" srcId="{A1EDCEDB-C0BF-4E78-B9F4-8E428693C730}" destId="{3C8DA2F3-0B53-4B60-96DA-D40EA3E7AB34}" srcOrd="0" destOrd="0" presId="urn:microsoft.com/office/officeart/2018/5/layout/IconLeafLabelList"/>
    <dgm:cxn modelId="{ABC26955-C622-4CFD-B5C8-48DBC7AA343B}" type="presParOf" srcId="{A1EDCEDB-C0BF-4E78-B9F4-8E428693C730}" destId="{431BB1AD-F20D-4495-8FD5-87BF2CAF768F}" srcOrd="1" destOrd="0" presId="urn:microsoft.com/office/officeart/2018/5/layout/IconLeafLabelList"/>
    <dgm:cxn modelId="{E62D49D3-7B2D-4271-9FAA-810AB17BDD4D}" type="presParOf" srcId="{A1EDCEDB-C0BF-4E78-B9F4-8E428693C730}" destId="{3498A2EB-82F3-4520-9A27-07AAF5C844E5}" srcOrd="2" destOrd="0" presId="urn:microsoft.com/office/officeart/2018/5/layout/IconLeafLabelList"/>
    <dgm:cxn modelId="{B5AA1C35-93C5-4231-B81F-C4DAACBD753C}" type="presParOf" srcId="{A1EDCEDB-C0BF-4E78-B9F4-8E428693C730}" destId="{B8B24261-580D-4956-83C9-E107305CFABA}" srcOrd="3" destOrd="0" presId="urn:microsoft.com/office/officeart/2018/5/layout/IconLeaf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F85238-5BA9-4BE5-BA60-EBA2432B3ED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D1C133-D393-4FD8-BC94-FC328F0C9A71}">
      <dgm:prSet phldrT="[Text]" phldr="0"/>
      <dgm:spPr/>
      <dgm:t>
        <a:bodyPr/>
        <a:lstStyle/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0007C063-1147-45F2-AB16-48A469B6FE86}" type="parTrans" cxnId="{49F6CF2A-7E23-4B2A-B1E4-30D2CBBCFEBB}">
      <dgm:prSet/>
      <dgm:spPr/>
      <dgm:t>
        <a:bodyPr/>
        <a:lstStyle/>
        <a:p>
          <a:endParaRPr lang="en-US"/>
        </a:p>
      </dgm:t>
    </dgm:pt>
    <dgm:pt modelId="{CBDC5C27-36A1-4286-80BC-A1C46E6789C9}" type="sibTrans" cxnId="{49F6CF2A-7E23-4B2A-B1E4-30D2CBBCFEBB}">
      <dgm:prSet/>
      <dgm:spPr/>
      <dgm:t>
        <a:bodyPr/>
        <a:lstStyle/>
        <a:p>
          <a:endParaRPr lang="en-US"/>
        </a:p>
      </dgm:t>
    </dgm:pt>
    <dgm:pt modelId="{7D9C163C-D369-4255-88D4-B907CE97D280}" type="pres">
      <dgm:prSet presAssocID="{BAF85238-5BA9-4BE5-BA60-EBA2432B3EDA}" presName="root" presStyleCnt="0">
        <dgm:presLayoutVars>
          <dgm:dir/>
          <dgm:resizeHandles val="exact"/>
        </dgm:presLayoutVars>
      </dgm:prSet>
      <dgm:spPr/>
    </dgm:pt>
    <dgm:pt modelId="{A1EDCEDB-C0BF-4E78-B9F4-8E428693C730}" type="pres">
      <dgm:prSet presAssocID="{D8D1C133-D393-4FD8-BC94-FC328F0C9A71}" presName="compNode" presStyleCnt="0"/>
      <dgm:spPr/>
    </dgm:pt>
    <dgm:pt modelId="{3C8DA2F3-0B53-4B60-96DA-D40EA3E7AB34}" type="pres">
      <dgm:prSet presAssocID="{D8D1C133-D393-4FD8-BC94-FC328F0C9A71}" presName="iconBgRect" presStyleLbl="bgShp" presStyleIdx="0" presStyleCnt="1"/>
      <dgm:spPr>
        <a:prstGeom prst="round2DiagRect">
          <a:avLst>
            <a:gd name="adj1" fmla="val 29727"/>
            <a:gd name="adj2" fmla="val 0"/>
          </a:avLst>
        </a:prstGeom>
      </dgm:spPr>
    </dgm:pt>
    <dgm:pt modelId="{431BB1AD-F20D-4495-8FD5-87BF2CAF768F}" type="pres">
      <dgm:prSet presAssocID="{D8D1C133-D393-4FD8-BC94-FC328F0C9A71}" presName="iconRect" presStyleLbl="nod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3498A2EB-82F3-4520-9A27-07AAF5C844E5}" type="pres">
      <dgm:prSet presAssocID="{D8D1C133-D393-4FD8-BC94-FC328F0C9A71}" presName="spaceRect" presStyleCnt="0"/>
      <dgm:spPr/>
    </dgm:pt>
    <dgm:pt modelId="{B8B24261-580D-4956-83C9-E107305CFABA}" type="pres">
      <dgm:prSet presAssocID="{D8D1C133-D393-4FD8-BC94-FC328F0C9A71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49B5AD17-EED0-42A6-9263-F76299C0B712}" type="presOf" srcId="{BAF85238-5BA9-4BE5-BA60-EBA2432B3EDA}" destId="{7D9C163C-D369-4255-88D4-B907CE97D280}" srcOrd="0" destOrd="0" presId="urn:microsoft.com/office/officeart/2018/5/layout/IconLeafLabelList"/>
    <dgm:cxn modelId="{49F6CF2A-7E23-4B2A-B1E4-30D2CBBCFEBB}" srcId="{BAF85238-5BA9-4BE5-BA60-EBA2432B3EDA}" destId="{D8D1C133-D393-4FD8-BC94-FC328F0C9A71}" srcOrd="0" destOrd="0" parTransId="{0007C063-1147-45F2-AB16-48A469B6FE86}" sibTransId="{CBDC5C27-36A1-4286-80BC-A1C46E6789C9}"/>
    <dgm:cxn modelId="{42E8C49C-0F0E-417A-995F-5344518D1958}" type="presOf" srcId="{D8D1C133-D393-4FD8-BC94-FC328F0C9A71}" destId="{B8B24261-580D-4956-83C9-E107305CFABA}" srcOrd="0" destOrd="0" presId="urn:microsoft.com/office/officeart/2018/5/layout/IconLeafLabelList"/>
    <dgm:cxn modelId="{BE4F8E23-4580-4D65-9656-8FDE96AE6469}" type="presParOf" srcId="{7D9C163C-D369-4255-88D4-B907CE97D280}" destId="{A1EDCEDB-C0BF-4E78-B9F4-8E428693C730}" srcOrd="0" destOrd="0" presId="urn:microsoft.com/office/officeart/2018/5/layout/IconLeafLabelList"/>
    <dgm:cxn modelId="{F50C672A-E59A-4B45-A44D-9F81F4727864}" type="presParOf" srcId="{A1EDCEDB-C0BF-4E78-B9F4-8E428693C730}" destId="{3C8DA2F3-0B53-4B60-96DA-D40EA3E7AB34}" srcOrd="0" destOrd="0" presId="urn:microsoft.com/office/officeart/2018/5/layout/IconLeafLabelList"/>
    <dgm:cxn modelId="{ABC26955-C622-4CFD-B5C8-48DBC7AA343B}" type="presParOf" srcId="{A1EDCEDB-C0BF-4E78-B9F4-8E428693C730}" destId="{431BB1AD-F20D-4495-8FD5-87BF2CAF768F}" srcOrd="1" destOrd="0" presId="urn:microsoft.com/office/officeart/2018/5/layout/IconLeafLabelList"/>
    <dgm:cxn modelId="{E62D49D3-7B2D-4271-9FAA-810AB17BDD4D}" type="presParOf" srcId="{A1EDCEDB-C0BF-4E78-B9F4-8E428693C730}" destId="{3498A2EB-82F3-4520-9A27-07AAF5C844E5}" srcOrd="2" destOrd="0" presId="urn:microsoft.com/office/officeart/2018/5/layout/IconLeafLabelList"/>
    <dgm:cxn modelId="{B5AA1C35-93C5-4231-B81F-C4DAACBD753C}" type="presParOf" srcId="{A1EDCEDB-C0BF-4E78-B9F4-8E428693C730}" destId="{B8B24261-580D-4956-83C9-E107305CFABA}" srcOrd="3" destOrd="0" presId="urn:microsoft.com/office/officeart/2018/5/layout/IconLeaf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04C298B-7C04-4DDE-A755-0EA3C7DEA60B}" type="doc">
      <dgm:prSet loTypeId="urn:microsoft.com/office/officeart/2018/2/layout/IconVerticalSolidList" loCatId="icon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587156D-BB47-4E62-9D07-953F73E8AE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 on your workflow</a:t>
          </a:r>
        </a:p>
      </dgm:t>
    </dgm:pt>
    <dgm:pt modelId="{8B37A771-F869-45DD-933A-B13C0852A689}" type="parTrans" cxnId="{44453F6A-AD23-42BA-8B48-B39F8F79838C}">
      <dgm:prSet/>
      <dgm:spPr/>
      <dgm:t>
        <a:bodyPr/>
        <a:lstStyle/>
        <a:p>
          <a:endParaRPr lang="en-US"/>
        </a:p>
      </dgm:t>
    </dgm:pt>
    <dgm:pt modelId="{1E1A6450-37FA-4AB4-8A79-4BB960F2A1BB}" type="sibTrans" cxnId="{44453F6A-AD23-42BA-8B48-B39F8F79838C}">
      <dgm:prSet/>
      <dgm:spPr/>
      <dgm:t>
        <a:bodyPr/>
        <a:lstStyle/>
        <a:p>
          <a:endParaRPr lang="en-US"/>
        </a:p>
      </dgm:t>
    </dgm:pt>
    <dgm:pt modelId="{AB102F9E-E0B7-4ABF-9F1B-82A9C36D46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Explore new ways to explore</a:t>
          </a:r>
        </a:p>
      </dgm:t>
    </dgm:pt>
    <dgm:pt modelId="{3E25B5C0-6592-4E5A-ABCB-D77BF5D70BDE}" type="parTrans" cxnId="{9E1A4E6E-FD96-496B-89EB-DF1154B284C2}">
      <dgm:prSet/>
      <dgm:spPr/>
      <dgm:t>
        <a:bodyPr/>
        <a:lstStyle/>
        <a:p>
          <a:endParaRPr lang="en-US"/>
        </a:p>
      </dgm:t>
    </dgm:pt>
    <dgm:pt modelId="{7B346342-33E4-4063-8B64-9369592BD784}" type="sibTrans" cxnId="{9E1A4E6E-FD96-496B-89EB-DF1154B284C2}">
      <dgm:prSet/>
      <dgm:spPr/>
      <dgm:t>
        <a:bodyPr/>
        <a:lstStyle/>
        <a:p>
          <a:endParaRPr lang="en-US"/>
        </a:p>
      </dgm:t>
    </dgm:pt>
    <dgm:pt modelId="{7F42A780-B84C-48BD-87E4-4E8AE0616E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Communicate with Clarity</a:t>
          </a:r>
        </a:p>
      </dgm:t>
    </dgm:pt>
    <dgm:pt modelId="{DA272465-07C5-4B5B-B443-1395310C4585}" type="parTrans" cxnId="{1E1E33ED-E138-4F8F-B845-EF9739CAF981}">
      <dgm:prSet/>
      <dgm:spPr/>
      <dgm:t>
        <a:bodyPr/>
        <a:lstStyle/>
        <a:p>
          <a:endParaRPr lang="en-US"/>
        </a:p>
      </dgm:t>
    </dgm:pt>
    <dgm:pt modelId="{13D259F9-F2F6-4684-8F16-A63DF6296E5C}" type="sibTrans" cxnId="{1E1E33ED-E138-4F8F-B845-EF9739CAF981}">
      <dgm:prSet/>
      <dgm:spPr/>
      <dgm:t>
        <a:bodyPr/>
        <a:lstStyle/>
        <a:p>
          <a:endParaRPr lang="en-US"/>
        </a:p>
      </dgm:t>
    </dgm:pt>
    <dgm:pt modelId="{9AC83153-ACD9-4401-A7DF-BA08527E2E75}" type="pres">
      <dgm:prSet presAssocID="{C04C298B-7C04-4DDE-A755-0EA3C7DEA60B}" presName="root" presStyleCnt="0">
        <dgm:presLayoutVars>
          <dgm:dir/>
          <dgm:resizeHandles val="exact"/>
        </dgm:presLayoutVars>
      </dgm:prSet>
      <dgm:spPr/>
    </dgm:pt>
    <dgm:pt modelId="{067B664C-B32F-40B2-BB55-DCC6C0B92F55}" type="pres">
      <dgm:prSet presAssocID="{AB102F9E-E0B7-4ABF-9F1B-82A9C36D4600}" presName="compNode" presStyleCnt="0"/>
      <dgm:spPr/>
    </dgm:pt>
    <dgm:pt modelId="{06D8EE71-C2CA-453F-BD67-A7D6B2C8E1A8}" type="pres">
      <dgm:prSet presAssocID="{AB102F9E-E0B7-4ABF-9F1B-82A9C36D4600}" presName="bgRect" presStyleLbl="bgShp" presStyleIdx="0" presStyleCnt="3"/>
      <dgm:spPr/>
    </dgm:pt>
    <dgm:pt modelId="{B7DA7BEF-618F-4D13-BA8A-12FD127A5980}" type="pres">
      <dgm:prSet presAssocID="{AB102F9E-E0B7-4ABF-9F1B-82A9C36D4600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790184C9-DD23-474C-A07C-A096D8519371}" type="pres">
      <dgm:prSet presAssocID="{AB102F9E-E0B7-4ABF-9F1B-82A9C36D4600}" presName="spaceRect" presStyleCnt="0"/>
      <dgm:spPr/>
    </dgm:pt>
    <dgm:pt modelId="{AB71504D-E003-44E2-94BA-72FB9EC782BE}" type="pres">
      <dgm:prSet presAssocID="{AB102F9E-E0B7-4ABF-9F1B-82A9C36D4600}" presName="parTx" presStyleLbl="revTx" presStyleIdx="0" presStyleCnt="3">
        <dgm:presLayoutVars>
          <dgm:chMax val="0"/>
          <dgm:chPref val="0"/>
        </dgm:presLayoutVars>
      </dgm:prSet>
      <dgm:spPr/>
    </dgm:pt>
    <dgm:pt modelId="{3137E8CC-B1D2-496E-9DE6-164FF7E23735}" type="pres">
      <dgm:prSet presAssocID="{7B346342-33E4-4063-8B64-9369592BD784}" presName="sibTrans" presStyleCnt="0"/>
      <dgm:spPr/>
    </dgm:pt>
    <dgm:pt modelId="{DA789B98-78FB-4318-A975-3B856946356F}" type="pres">
      <dgm:prSet presAssocID="{1587156D-BB47-4E62-9D07-953F73E8AE0F}" presName="compNode" presStyleCnt="0"/>
      <dgm:spPr/>
    </dgm:pt>
    <dgm:pt modelId="{7313FC62-049B-447E-A0F5-A9E26D33D338}" type="pres">
      <dgm:prSet presAssocID="{1587156D-BB47-4E62-9D07-953F73E8AE0F}" presName="bgRect" presStyleLbl="bgShp" presStyleIdx="1" presStyleCnt="3"/>
      <dgm:spPr/>
    </dgm:pt>
    <dgm:pt modelId="{5B85BDF4-3B54-4BFC-AD5B-78D63EFB086D}" type="pres">
      <dgm:prSet presAssocID="{1587156D-BB47-4E62-9D07-953F73E8AE0F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82C993DB-580B-41DB-85CE-399DFAA491CD}" type="pres">
      <dgm:prSet presAssocID="{1587156D-BB47-4E62-9D07-953F73E8AE0F}" presName="spaceRect" presStyleCnt="0"/>
      <dgm:spPr/>
    </dgm:pt>
    <dgm:pt modelId="{0EBBC58B-98A8-49A0-B72B-B4A611E5BEEC}" type="pres">
      <dgm:prSet presAssocID="{1587156D-BB47-4E62-9D07-953F73E8AE0F}" presName="parTx" presStyleLbl="revTx" presStyleIdx="1" presStyleCnt="3">
        <dgm:presLayoutVars>
          <dgm:chMax val="0"/>
          <dgm:chPref val="0"/>
        </dgm:presLayoutVars>
      </dgm:prSet>
      <dgm:spPr/>
    </dgm:pt>
    <dgm:pt modelId="{E084BB9A-DE48-49E5-B747-46E9F7E00843}" type="pres">
      <dgm:prSet presAssocID="{1E1A6450-37FA-4AB4-8A79-4BB960F2A1BB}" presName="sibTrans" presStyleCnt="0"/>
      <dgm:spPr/>
    </dgm:pt>
    <dgm:pt modelId="{A3A69D55-F957-4F05-9A8F-40B98BAC35BD}" type="pres">
      <dgm:prSet presAssocID="{7F42A780-B84C-48BD-87E4-4E8AE0616E63}" presName="compNode" presStyleCnt="0"/>
      <dgm:spPr/>
    </dgm:pt>
    <dgm:pt modelId="{273CE0B0-DCFD-4CA8-A4B2-0C8C34887F6B}" type="pres">
      <dgm:prSet presAssocID="{7F42A780-B84C-48BD-87E4-4E8AE0616E63}" presName="bgRect" presStyleLbl="bgShp" presStyleIdx="2" presStyleCnt="3"/>
      <dgm:spPr/>
    </dgm:pt>
    <dgm:pt modelId="{EC9649C5-DB1C-4C4D-8498-F871517088CC}" type="pres">
      <dgm:prSet presAssocID="{7F42A780-B84C-48BD-87E4-4E8AE0616E63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with solid fill"/>
        </a:ext>
      </dgm:extLst>
    </dgm:pt>
    <dgm:pt modelId="{F6EBC5A4-1049-4E5E-A79F-EC74DC15B39D}" type="pres">
      <dgm:prSet presAssocID="{7F42A780-B84C-48BD-87E4-4E8AE0616E63}" presName="spaceRect" presStyleCnt="0"/>
      <dgm:spPr/>
    </dgm:pt>
    <dgm:pt modelId="{613669F8-39E1-4038-A202-A7DD4B2CBEC1}" type="pres">
      <dgm:prSet presAssocID="{7F42A780-B84C-48BD-87E4-4E8AE0616E6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7257C0B-8F5F-460A-B7B5-7B8BB31EF4F5}" type="presOf" srcId="{C04C298B-7C04-4DDE-A755-0EA3C7DEA60B}" destId="{9AC83153-ACD9-4401-A7DF-BA08527E2E75}" srcOrd="0" destOrd="0" presId="urn:microsoft.com/office/officeart/2018/2/layout/IconVerticalSolidList"/>
    <dgm:cxn modelId="{002DCE3D-15B9-44E7-9436-B1B853C68AE9}" type="presOf" srcId="{7F42A780-B84C-48BD-87E4-4E8AE0616E63}" destId="{613669F8-39E1-4038-A202-A7DD4B2CBEC1}" srcOrd="0" destOrd="0" presId="urn:microsoft.com/office/officeart/2018/2/layout/IconVerticalSolidList"/>
    <dgm:cxn modelId="{44453F6A-AD23-42BA-8B48-B39F8F79838C}" srcId="{C04C298B-7C04-4DDE-A755-0EA3C7DEA60B}" destId="{1587156D-BB47-4E62-9D07-953F73E8AE0F}" srcOrd="1" destOrd="0" parTransId="{8B37A771-F869-45DD-933A-B13C0852A689}" sibTransId="{1E1A6450-37FA-4AB4-8A79-4BB960F2A1BB}"/>
    <dgm:cxn modelId="{9E1A4E6E-FD96-496B-89EB-DF1154B284C2}" srcId="{C04C298B-7C04-4DDE-A755-0EA3C7DEA60B}" destId="{AB102F9E-E0B7-4ABF-9F1B-82A9C36D4600}" srcOrd="0" destOrd="0" parTransId="{3E25B5C0-6592-4E5A-ABCB-D77BF5D70BDE}" sibTransId="{7B346342-33E4-4063-8B64-9369592BD784}"/>
    <dgm:cxn modelId="{956CC452-E198-465D-A3C2-454B24513786}" type="presOf" srcId="{AB102F9E-E0B7-4ABF-9F1B-82A9C36D4600}" destId="{AB71504D-E003-44E2-94BA-72FB9EC782BE}" srcOrd="0" destOrd="0" presId="urn:microsoft.com/office/officeart/2018/2/layout/IconVerticalSolidList"/>
    <dgm:cxn modelId="{006135A1-3D1B-4933-B35C-83FEFFF46528}" type="presOf" srcId="{1587156D-BB47-4E62-9D07-953F73E8AE0F}" destId="{0EBBC58B-98A8-49A0-B72B-B4A611E5BEEC}" srcOrd="0" destOrd="0" presId="urn:microsoft.com/office/officeart/2018/2/layout/IconVerticalSolidList"/>
    <dgm:cxn modelId="{1E1E33ED-E138-4F8F-B845-EF9739CAF981}" srcId="{C04C298B-7C04-4DDE-A755-0EA3C7DEA60B}" destId="{7F42A780-B84C-48BD-87E4-4E8AE0616E63}" srcOrd="2" destOrd="0" parTransId="{DA272465-07C5-4B5B-B443-1395310C4585}" sibTransId="{13D259F9-F2F6-4684-8F16-A63DF6296E5C}"/>
    <dgm:cxn modelId="{E52C69FF-3FCE-4A9D-A563-1710F2C7326E}" type="presParOf" srcId="{9AC83153-ACD9-4401-A7DF-BA08527E2E75}" destId="{067B664C-B32F-40B2-BB55-DCC6C0B92F55}" srcOrd="0" destOrd="0" presId="urn:microsoft.com/office/officeart/2018/2/layout/IconVerticalSolidList"/>
    <dgm:cxn modelId="{A1F385D3-BF13-4571-AA04-3EC3713D07E6}" type="presParOf" srcId="{067B664C-B32F-40B2-BB55-DCC6C0B92F55}" destId="{06D8EE71-C2CA-453F-BD67-A7D6B2C8E1A8}" srcOrd="0" destOrd="0" presId="urn:microsoft.com/office/officeart/2018/2/layout/IconVerticalSolidList"/>
    <dgm:cxn modelId="{67A0D667-6B1D-4D4E-98CB-DFEA2E323C47}" type="presParOf" srcId="{067B664C-B32F-40B2-BB55-DCC6C0B92F55}" destId="{B7DA7BEF-618F-4D13-BA8A-12FD127A5980}" srcOrd="1" destOrd="0" presId="urn:microsoft.com/office/officeart/2018/2/layout/IconVerticalSolidList"/>
    <dgm:cxn modelId="{88C0CB5B-5F3D-473E-998F-D354C0041F1A}" type="presParOf" srcId="{067B664C-B32F-40B2-BB55-DCC6C0B92F55}" destId="{790184C9-DD23-474C-A07C-A096D8519371}" srcOrd="2" destOrd="0" presId="urn:microsoft.com/office/officeart/2018/2/layout/IconVerticalSolidList"/>
    <dgm:cxn modelId="{2AC9854E-806A-434A-9F1D-0D897BE91661}" type="presParOf" srcId="{067B664C-B32F-40B2-BB55-DCC6C0B92F55}" destId="{AB71504D-E003-44E2-94BA-72FB9EC782BE}" srcOrd="3" destOrd="0" presId="urn:microsoft.com/office/officeart/2018/2/layout/IconVerticalSolidList"/>
    <dgm:cxn modelId="{8E2DD1B9-6664-4A66-AA78-35C2D834830B}" type="presParOf" srcId="{9AC83153-ACD9-4401-A7DF-BA08527E2E75}" destId="{3137E8CC-B1D2-496E-9DE6-164FF7E23735}" srcOrd="1" destOrd="0" presId="urn:microsoft.com/office/officeart/2018/2/layout/IconVerticalSolidList"/>
    <dgm:cxn modelId="{E4B7D4BB-02D0-416E-9ADA-6A48A0BC3194}" type="presParOf" srcId="{9AC83153-ACD9-4401-A7DF-BA08527E2E75}" destId="{DA789B98-78FB-4318-A975-3B856946356F}" srcOrd="2" destOrd="0" presId="urn:microsoft.com/office/officeart/2018/2/layout/IconVerticalSolidList"/>
    <dgm:cxn modelId="{645C5151-7094-4DD5-B0C4-1227BA128909}" type="presParOf" srcId="{DA789B98-78FB-4318-A975-3B856946356F}" destId="{7313FC62-049B-447E-A0F5-A9E26D33D338}" srcOrd="0" destOrd="0" presId="urn:microsoft.com/office/officeart/2018/2/layout/IconVerticalSolidList"/>
    <dgm:cxn modelId="{C7571D7E-37F1-4F8A-A5C3-5D0C232F87F8}" type="presParOf" srcId="{DA789B98-78FB-4318-A975-3B856946356F}" destId="{5B85BDF4-3B54-4BFC-AD5B-78D63EFB086D}" srcOrd="1" destOrd="0" presId="urn:microsoft.com/office/officeart/2018/2/layout/IconVerticalSolidList"/>
    <dgm:cxn modelId="{82ACA30A-AED4-4AA6-8985-8D99BE15C62E}" type="presParOf" srcId="{DA789B98-78FB-4318-A975-3B856946356F}" destId="{82C993DB-580B-41DB-85CE-399DFAA491CD}" srcOrd="2" destOrd="0" presId="urn:microsoft.com/office/officeart/2018/2/layout/IconVerticalSolidList"/>
    <dgm:cxn modelId="{41950506-987D-4C5B-A8E5-C8DB595325A2}" type="presParOf" srcId="{DA789B98-78FB-4318-A975-3B856946356F}" destId="{0EBBC58B-98A8-49A0-B72B-B4A611E5BEEC}" srcOrd="3" destOrd="0" presId="urn:microsoft.com/office/officeart/2018/2/layout/IconVerticalSolidList"/>
    <dgm:cxn modelId="{8A648EF0-6E71-4B40-92F4-18933CD50C5B}" type="presParOf" srcId="{9AC83153-ACD9-4401-A7DF-BA08527E2E75}" destId="{E084BB9A-DE48-49E5-B747-46E9F7E00843}" srcOrd="3" destOrd="0" presId="urn:microsoft.com/office/officeart/2018/2/layout/IconVerticalSolidList"/>
    <dgm:cxn modelId="{66BDE07D-FDC8-459C-9995-19970B358895}" type="presParOf" srcId="{9AC83153-ACD9-4401-A7DF-BA08527E2E75}" destId="{A3A69D55-F957-4F05-9A8F-40B98BAC35BD}" srcOrd="4" destOrd="0" presId="urn:microsoft.com/office/officeart/2018/2/layout/IconVerticalSolidList"/>
    <dgm:cxn modelId="{A03C19FE-41D0-4424-95CA-D5117C474C84}" type="presParOf" srcId="{A3A69D55-F957-4F05-9A8F-40B98BAC35BD}" destId="{273CE0B0-DCFD-4CA8-A4B2-0C8C34887F6B}" srcOrd="0" destOrd="0" presId="urn:microsoft.com/office/officeart/2018/2/layout/IconVerticalSolidList"/>
    <dgm:cxn modelId="{190CFEFD-B1B8-424A-98DD-0FB20EBCBC48}" type="presParOf" srcId="{A3A69D55-F957-4F05-9A8F-40B98BAC35BD}" destId="{EC9649C5-DB1C-4C4D-8498-F871517088CC}" srcOrd="1" destOrd="0" presId="urn:microsoft.com/office/officeart/2018/2/layout/IconVerticalSolidList"/>
    <dgm:cxn modelId="{2EA3F294-8913-4AFB-8A41-5D0134DE4B1E}" type="presParOf" srcId="{A3A69D55-F957-4F05-9A8F-40B98BAC35BD}" destId="{F6EBC5A4-1049-4E5E-A79F-EC74DC15B39D}" srcOrd="2" destOrd="0" presId="urn:microsoft.com/office/officeart/2018/2/layout/IconVerticalSolidList"/>
    <dgm:cxn modelId="{945D36B5-BC90-49F7-BD5A-F9C60048095C}" type="presParOf" srcId="{A3A69D55-F957-4F05-9A8F-40B98BAC35BD}" destId="{613669F8-39E1-4038-A202-A7DD4B2CBE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DA2F3-0B53-4B60-96DA-D40EA3E7AB34}">
      <dsp:nvSpPr>
        <dsp:cNvPr id="0" name=""/>
        <dsp:cNvSpPr/>
      </dsp:nvSpPr>
      <dsp:spPr>
        <a:xfrm>
          <a:off x="719999" y="402168"/>
          <a:ext cx="2058750" cy="2058750"/>
        </a:xfrm>
        <a:prstGeom prst="round2DiagRect">
          <a:avLst>
            <a:gd name="adj1" fmla="val 29727"/>
            <a:gd name="adj2" fmla="val 0"/>
          </a:avLst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BB1AD-F20D-4495-8FD5-87BF2CAF768F}">
      <dsp:nvSpPr>
        <dsp:cNvPr id="0" name=""/>
        <dsp:cNvSpPr/>
      </dsp:nvSpPr>
      <dsp:spPr>
        <a:xfrm>
          <a:off x="1158750" y="840918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4261-580D-4956-83C9-E107305CFABA}">
      <dsp:nvSpPr>
        <dsp:cNvPr id="0" name=""/>
        <dsp:cNvSpPr/>
      </dsp:nvSpPr>
      <dsp:spPr>
        <a:xfrm>
          <a:off x="61875" y="3102169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EXPLORE</a:t>
          </a:r>
        </a:p>
      </dsp:txBody>
      <dsp:txXfrm>
        <a:off x="61875" y="3102169"/>
        <a:ext cx="3375000" cy="720000"/>
      </dsp:txXfrm>
    </dsp:sp>
    <dsp:sp modelId="{26BAEEE5-C56F-46D8-BC5F-B94E86F0E05A}">
      <dsp:nvSpPr>
        <dsp:cNvPr id="0" name=""/>
        <dsp:cNvSpPr/>
      </dsp:nvSpPr>
      <dsp:spPr>
        <a:xfrm>
          <a:off x="4685625" y="402168"/>
          <a:ext cx="2058750" cy="2058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E894D-D79A-4D60-AB15-36F9EF405B76}">
      <dsp:nvSpPr>
        <dsp:cNvPr id="0" name=""/>
        <dsp:cNvSpPr/>
      </dsp:nvSpPr>
      <dsp:spPr>
        <a:xfrm>
          <a:off x="5124375" y="840918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28B78-5A6D-4AC3-800E-23B4F065892A}">
      <dsp:nvSpPr>
        <dsp:cNvPr id="0" name=""/>
        <dsp:cNvSpPr/>
      </dsp:nvSpPr>
      <dsp:spPr>
        <a:xfrm>
          <a:off x="4027500" y="3102169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BUILD</a:t>
          </a:r>
        </a:p>
      </dsp:txBody>
      <dsp:txXfrm>
        <a:off x="4027500" y="3102169"/>
        <a:ext cx="3375000" cy="720000"/>
      </dsp:txXfrm>
    </dsp:sp>
    <dsp:sp modelId="{C0237C6B-A487-4042-BF7D-A7487D5315F8}">
      <dsp:nvSpPr>
        <dsp:cNvPr id="0" name=""/>
        <dsp:cNvSpPr/>
      </dsp:nvSpPr>
      <dsp:spPr>
        <a:xfrm>
          <a:off x="8651250" y="402168"/>
          <a:ext cx="2058750" cy="2058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D2FD22-AAE2-464F-946D-2C2C906A5804}">
      <dsp:nvSpPr>
        <dsp:cNvPr id="0" name=""/>
        <dsp:cNvSpPr/>
      </dsp:nvSpPr>
      <dsp:spPr>
        <a:xfrm>
          <a:off x="9090000" y="840918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B221F-5C0C-4A5D-B7AA-31E1E6D509E5}">
      <dsp:nvSpPr>
        <dsp:cNvPr id="0" name=""/>
        <dsp:cNvSpPr/>
      </dsp:nvSpPr>
      <dsp:spPr>
        <a:xfrm>
          <a:off x="7993125" y="3102169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SHOW</a:t>
          </a:r>
        </a:p>
      </dsp:txBody>
      <dsp:txXfrm>
        <a:off x="7993125" y="3102169"/>
        <a:ext cx="3375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DA2F3-0B53-4B60-96DA-D40EA3E7AB34}">
      <dsp:nvSpPr>
        <dsp:cNvPr id="0" name=""/>
        <dsp:cNvSpPr/>
      </dsp:nvSpPr>
      <dsp:spPr>
        <a:xfrm>
          <a:off x="619291" y="242235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BB1AD-F20D-4495-8FD5-87BF2CAF768F}">
      <dsp:nvSpPr>
        <dsp:cNvPr id="0" name=""/>
        <dsp:cNvSpPr/>
      </dsp:nvSpPr>
      <dsp:spPr>
        <a:xfrm>
          <a:off x="1021479" y="644422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4261-580D-4956-83C9-E107305CFABA}">
      <dsp:nvSpPr>
        <dsp:cNvPr id="0" name=""/>
        <dsp:cNvSpPr/>
      </dsp:nvSpPr>
      <dsp:spPr>
        <a:xfrm>
          <a:off x="16010" y="271723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4400" kern="1200" dirty="0"/>
        </a:p>
      </dsp:txBody>
      <dsp:txXfrm>
        <a:off x="16010" y="2717235"/>
        <a:ext cx="30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DA2F3-0B53-4B60-96DA-D40EA3E7AB34}">
      <dsp:nvSpPr>
        <dsp:cNvPr id="0" name=""/>
        <dsp:cNvSpPr/>
      </dsp:nvSpPr>
      <dsp:spPr>
        <a:xfrm>
          <a:off x="619291" y="242235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BB1AD-F20D-4495-8FD5-87BF2CAF768F}">
      <dsp:nvSpPr>
        <dsp:cNvPr id="0" name=""/>
        <dsp:cNvSpPr/>
      </dsp:nvSpPr>
      <dsp:spPr>
        <a:xfrm>
          <a:off x="1021479" y="644422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4261-580D-4956-83C9-E107305CFABA}">
      <dsp:nvSpPr>
        <dsp:cNvPr id="0" name=""/>
        <dsp:cNvSpPr/>
      </dsp:nvSpPr>
      <dsp:spPr>
        <a:xfrm>
          <a:off x="16010" y="271723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4400" kern="1200" dirty="0"/>
        </a:p>
      </dsp:txBody>
      <dsp:txXfrm>
        <a:off x="16010" y="2717235"/>
        <a:ext cx="3093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DA2F3-0B53-4B60-96DA-D40EA3E7AB34}">
      <dsp:nvSpPr>
        <dsp:cNvPr id="0" name=""/>
        <dsp:cNvSpPr/>
      </dsp:nvSpPr>
      <dsp:spPr>
        <a:xfrm>
          <a:off x="985100" y="5458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BB1AD-F20D-4495-8FD5-87BF2CAF768F}">
      <dsp:nvSpPr>
        <dsp:cNvPr id="0" name=""/>
        <dsp:cNvSpPr/>
      </dsp:nvSpPr>
      <dsp:spPr>
        <a:xfrm>
          <a:off x="1241037" y="261396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4261-580D-4956-83C9-E107305CFABA}">
      <dsp:nvSpPr>
        <dsp:cNvPr id="0" name=""/>
        <dsp:cNvSpPr/>
      </dsp:nvSpPr>
      <dsp:spPr>
        <a:xfrm>
          <a:off x="601193" y="1580459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4400" kern="1200" dirty="0"/>
        </a:p>
      </dsp:txBody>
      <dsp:txXfrm>
        <a:off x="601193" y="1580459"/>
        <a:ext cx="196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DA2F3-0B53-4B60-96DA-D40EA3E7AB34}">
      <dsp:nvSpPr>
        <dsp:cNvPr id="0" name=""/>
        <dsp:cNvSpPr/>
      </dsp:nvSpPr>
      <dsp:spPr>
        <a:xfrm>
          <a:off x="985100" y="5458"/>
          <a:ext cx="1200937" cy="1200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BB1AD-F20D-4495-8FD5-87BF2CAF768F}">
      <dsp:nvSpPr>
        <dsp:cNvPr id="0" name=""/>
        <dsp:cNvSpPr/>
      </dsp:nvSpPr>
      <dsp:spPr>
        <a:xfrm>
          <a:off x="1241037" y="261396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4261-580D-4956-83C9-E107305CFABA}">
      <dsp:nvSpPr>
        <dsp:cNvPr id="0" name=""/>
        <dsp:cNvSpPr/>
      </dsp:nvSpPr>
      <dsp:spPr>
        <a:xfrm>
          <a:off x="601193" y="1580459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4400" kern="1200" dirty="0"/>
        </a:p>
      </dsp:txBody>
      <dsp:txXfrm>
        <a:off x="601193" y="1580459"/>
        <a:ext cx="196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8EE71-C2CA-453F-BD67-A7D6B2C8E1A8}">
      <dsp:nvSpPr>
        <dsp:cNvPr id="0" name=""/>
        <dsp:cNvSpPr/>
      </dsp:nvSpPr>
      <dsp:spPr>
        <a:xfrm>
          <a:off x="0" y="515"/>
          <a:ext cx="11430000" cy="12066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7DA7BEF-618F-4D13-BA8A-12FD127A5980}">
      <dsp:nvSpPr>
        <dsp:cNvPr id="0" name=""/>
        <dsp:cNvSpPr/>
      </dsp:nvSpPr>
      <dsp:spPr>
        <a:xfrm>
          <a:off x="365014" y="272013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B71504D-E003-44E2-94BA-72FB9EC782BE}">
      <dsp:nvSpPr>
        <dsp:cNvPr id="0" name=""/>
        <dsp:cNvSpPr/>
      </dsp:nvSpPr>
      <dsp:spPr>
        <a:xfrm>
          <a:off x="1393691" y="515"/>
          <a:ext cx="10036308" cy="120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05" tIns="127705" rIns="127705" bIns="12770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Explore new ways to explore</a:t>
          </a:r>
        </a:p>
      </dsp:txBody>
      <dsp:txXfrm>
        <a:off x="1393691" y="515"/>
        <a:ext cx="10036308" cy="1206659"/>
      </dsp:txXfrm>
    </dsp:sp>
    <dsp:sp modelId="{7313FC62-049B-447E-A0F5-A9E26D33D338}">
      <dsp:nvSpPr>
        <dsp:cNvPr id="0" name=""/>
        <dsp:cNvSpPr/>
      </dsp:nvSpPr>
      <dsp:spPr>
        <a:xfrm>
          <a:off x="0" y="1508839"/>
          <a:ext cx="11430000" cy="12066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B85BDF4-3B54-4BFC-AD5B-78D63EFB086D}">
      <dsp:nvSpPr>
        <dsp:cNvPr id="0" name=""/>
        <dsp:cNvSpPr/>
      </dsp:nvSpPr>
      <dsp:spPr>
        <a:xfrm>
          <a:off x="365014" y="1780337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EBBC58B-98A8-49A0-B72B-B4A611E5BEEC}">
      <dsp:nvSpPr>
        <dsp:cNvPr id="0" name=""/>
        <dsp:cNvSpPr/>
      </dsp:nvSpPr>
      <dsp:spPr>
        <a:xfrm>
          <a:off x="1393691" y="1508839"/>
          <a:ext cx="10036308" cy="120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05" tIns="127705" rIns="127705" bIns="12770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 on your workflow</a:t>
          </a:r>
        </a:p>
      </dsp:txBody>
      <dsp:txXfrm>
        <a:off x="1393691" y="1508839"/>
        <a:ext cx="10036308" cy="1206659"/>
      </dsp:txXfrm>
    </dsp:sp>
    <dsp:sp modelId="{273CE0B0-DCFD-4CA8-A4B2-0C8C34887F6B}">
      <dsp:nvSpPr>
        <dsp:cNvPr id="0" name=""/>
        <dsp:cNvSpPr/>
      </dsp:nvSpPr>
      <dsp:spPr>
        <a:xfrm>
          <a:off x="0" y="3017163"/>
          <a:ext cx="11430000" cy="12066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9649C5-DB1C-4C4D-8498-F871517088CC}">
      <dsp:nvSpPr>
        <dsp:cNvPr id="0" name=""/>
        <dsp:cNvSpPr/>
      </dsp:nvSpPr>
      <dsp:spPr>
        <a:xfrm>
          <a:off x="365014" y="3288661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13669F8-39E1-4038-A202-A7DD4B2CBEC1}">
      <dsp:nvSpPr>
        <dsp:cNvPr id="0" name=""/>
        <dsp:cNvSpPr/>
      </dsp:nvSpPr>
      <dsp:spPr>
        <a:xfrm>
          <a:off x="1393691" y="3017163"/>
          <a:ext cx="10036308" cy="120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05" tIns="127705" rIns="127705" bIns="12770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Communicate with Clarity</a:t>
          </a:r>
        </a:p>
      </dsp:txBody>
      <dsp:txXfrm>
        <a:off x="1393691" y="3017163"/>
        <a:ext cx="10036308" cy="1206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455D8-8731-408B-B62E-A3E301AA9B9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A9CF2-45C2-44F3-B8AA-C7AA40CBA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4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A9CF2-45C2-44F3-B8AA-C7AA40CBA8F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4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524E1-C177-7A46-8770-0596FC42354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37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0">
            <a:extLst>
              <a:ext uri="{FF2B5EF4-FFF2-40B4-BE49-F238E27FC236}">
                <a16:creationId xmlns:a16="http://schemas.microsoft.com/office/drawing/2014/main" id="{03435116-8EC1-A548-452A-A5744EC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E800B03-ECF5-F0B1-7514-4FC09CEC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61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ull Photo"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0">
            <a:extLst>
              <a:ext uri="{FF2B5EF4-FFF2-40B4-BE49-F238E27FC236}">
                <a16:creationId xmlns:a16="http://schemas.microsoft.com/office/drawing/2014/main" id="{03435116-8EC1-A548-452A-A5744EC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E800B03-ECF5-F0B1-7514-4FC09CEC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A14450-E163-A0FB-AE33-14F2CE668D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770"/>
          <a:stretch/>
        </p:blipFill>
        <p:spPr>
          <a:xfrm>
            <a:off x="1" y="5059179"/>
            <a:ext cx="12191999" cy="17988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257072-1084-FF0B-4C4D-552F09E08A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3770"/>
          <a:stretch/>
        </p:blipFill>
        <p:spPr>
          <a:xfrm>
            <a:off x="1" y="5059179"/>
            <a:ext cx="12191999" cy="17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1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Pl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F64BEEBC-AE20-0931-2193-11EF8F68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1BFEEB1-1250-CB23-C303-2290A9F7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512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ech Tow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F07C9153-7FEC-638D-4ADD-6BB1DD8D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E485BB9-C655-511D-0A07-5032FD2F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092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5B7F-352E-C28B-8FAE-3BB4D852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75D7-D7BA-5586-F7B4-23B0310DA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B15FF-F5E8-7F80-CD24-4EAE241F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59758-F896-4742-ADBF-CFC5E01A0C3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7331A-9DA2-8887-48BE-C3B9D846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476F6-2DBD-387F-2DFF-4782BDAB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E2A5-7757-49AF-A6AF-E28CC1911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0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Tech Tow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F07C9153-7FEC-638D-4ADD-6BB1DD8D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E485BB9-C655-511D-0A07-5032FD2F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7565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Wre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877FD755-E0C4-6855-6104-473A50AF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9459AD-2E3D-84AE-9D0B-4E11607C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2898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Pl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F64BEEBC-AE20-0931-2193-11EF8F68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1BFEEB1-1250-CB23-C303-2290A9F7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235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Full Photo"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0">
            <a:extLst>
              <a:ext uri="{FF2B5EF4-FFF2-40B4-BE49-F238E27FC236}">
                <a16:creationId xmlns:a16="http://schemas.microsoft.com/office/drawing/2014/main" id="{03435116-8EC1-A548-452A-A5744EC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E800B03-ECF5-F0B1-7514-4FC09CECE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A14450-E163-A0FB-AE33-14F2CE668D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3770"/>
          <a:stretch/>
        </p:blipFill>
        <p:spPr>
          <a:xfrm>
            <a:off x="1" y="5059179"/>
            <a:ext cx="12191999" cy="17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1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Kende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0A5E07F1-324A-EAB5-7F55-AEE3D689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D3E42BF-71A1-25AD-433E-81802107B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5156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52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s - Pl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5FCBB805-91EF-D0F1-B5CA-BCA3290E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16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s - Kende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28D4045A-E327-4892-6A89-6CBE5583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88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s - Tech Tow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6B75A76D-59A5-A55D-8427-D3105607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85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s - Wre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0">
            <a:extLst>
              <a:ext uri="{FF2B5EF4-FFF2-40B4-BE49-F238E27FC236}">
                <a16:creationId xmlns:a16="http://schemas.microsoft.com/office/drawing/2014/main" id="{E3126A54-2183-1E0F-7A09-1B69C88E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2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695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5615353" cy="42256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215483"/>
            <a:ext cx="5613400" cy="42256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66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235113"/>
            <a:ext cx="561763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2078658"/>
            <a:ext cx="5617633" cy="33624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35113"/>
            <a:ext cx="56388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78658"/>
            <a:ext cx="5638800" cy="33624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417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05746-5DE4-07B1-5611-4EEBAF38DE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1000" y="1425402"/>
            <a:ext cx="3074469" cy="20818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3F001E6-D6D1-A396-EE07-7790621213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71394" y="1425402"/>
            <a:ext cx="3074469" cy="20818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2BD7855-1EA6-1102-5122-4BF617ED2D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8140" y="1425402"/>
            <a:ext cx="3074469" cy="20818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3DB0072-B1E4-2B67-CD64-AFD0CADC50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3772092"/>
            <a:ext cx="3074469" cy="20818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12EFAB6-9D79-46A4-1400-FA689BD183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71394" y="3772092"/>
            <a:ext cx="3074469" cy="20818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8E2A34E-676C-226E-E8A6-42635E9CC1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78140" y="3772092"/>
            <a:ext cx="3074469" cy="20818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50011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60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2338" y="457201"/>
            <a:ext cx="7168663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51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14203" y="457201"/>
            <a:ext cx="7196798" cy="49839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50"/>
            <a:ext cx="3932767" cy="31662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7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AD69-3205-BCCD-4E2D-E72B1D3B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0D675-7591-9D83-10A1-2FEED657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773C-2F41-C6E1-AAB5-9601AB572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169B0B5-D05E-C4AE-458A-3F4627989B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1435100"/>
            <a:ext cx="7510463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A2623B-F27F-1862-1049-4ADBDCD76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16888" y="1435100"/>
            <a:ext cx="3694112" cy="341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8626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Tech Tow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F07C9153-7FEC-638D-4ADD-6BB1DD8D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E485BB9-C655-511D-0A07-5032FD2F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40678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Pl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F64BEEBC-AE20-0931-2193-11EF8F68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1BFEEB1-1250-CB23-C303-2290A9F7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30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C16630-5558-9114-4463-47E138DB6255}"/>
              </a:ext>
            </a:extLst>
          </p:cNvPr>
          <p:cNvSpPr txBox="1">
            <a:spLocks/>
          </p:cNvSpPr>
          <p:nvPr/>
        </p:nvSpPr>
        <p:spPr>
          <a:xfrm>
            <a:off x="2447108" y="1680753"/>
            <a:ext cx="8682445" cy="276061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 defTabSz="3429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3552819F-CE1E-70EB-07B5-3B61D257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08" y="1846217"/>
            <a:ext cx="8906692" cy="2595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BD913C0-CC86-E0C0-B503-69104064E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7108" y="4441370"/>
            <a:ext cx="8906692" cy="62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8051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3" r:id="rId5"/>
    <p:sldLayoutId id="2147483660" r:id="rId6"/>
    <p:sldLayoutId id="2147483661" r:id="rId7"/>
    <p:sldLayoutId id="2147483662" r:id="rId8"/>
    <p:sldLayoutId id="2147483663" r:id="rId9"/>
    <p:sldLayoutId id="2147483665" r:id="rId10"/>
    <p:sldLayoutId id="2147483692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6000" b="1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0" indent="0" algn="l" defTabSz="342900" rtl="0" eaLnBrk="1" latinLnBrk="0" hangingPunct="1">
        <a:spcBef>
          <a:spcPct val="20000"/>
        </a:spcBef>
        <a:buFont typeface="Arial"/>
        <a:buNone/>
        <a:defRPr sz="1800" kern="1200">
          <a:solidFill>
            <a:srgbClr val="B3A369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55A20D-930F-A185-C845-C95F4365004A}"/>
              </a:ext>
            </a:extLst>
          </p:cNvPr>
          <p:cNvSpPr txBox="1">
            <a:spLocks/>
          </p:cNvSpPr>
          <p:nvPr/>
        </p:nvSpPr>
        <p:spPr>
          <a:xfrm>
            <a:off x="1746069" y="2137954"/>
            <a:ext cx="8699862" cy="258209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 defTabSz="3429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C83A85DD-FCD4-4A59-0F3C-B8F9FA03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54" y="1948985"/>
            <a:ext cx="8906692" cy="296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097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txStyles>
    <p:titleStyle>
      <a:lvl1pPr algn="ctr" defTabSz="342900" rtl="0" eaLnBrk="1" latinLnBrk="0" hangingPunct="1">
        <a:spcBef>
          <a:spcPct val="0"/>
        </a:spcBef>
        <a:buNone/>
        <a:defRPr sz="6000" b="1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15485"/>
            <a:ext cx="11429999" cy="4225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08329" y="6182540"/>
            <a:ext cx="15466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016554A5-B4DD-7045-B047-B7DA6D1E70A4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182540"/>
            <a:ext cx="9165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3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com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jpg&amp;f=1&amp;nofb=1&amp;ipt=2e4c7083dde820c9f1418dda701e641600583c54e6086b11ed4135f421c69b69&amp;ipo=images"/><Relationship Id="rId4" Type="http://schemas.openxmlformats.org/officeDocument/2006/relationships/hyperlink" Target="https://jupyter.org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7" Type="http://schemas.openxmlformats.org/officeDocument/2006/relationships/image" Target="../media/image18.png&amp;f=1&amp;nofb=1&amp;ipt=1fb51d2caf536a7cc1b95c9888a0ed58723ce2f50de4878837183fa019b2f2b3&amp;ipo=images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jpeg&amp;f=1&amp;nofb=1&amp;ipt=0481401b8a25b533ffa1d3361fc8897e79bdc6deb4395b496f19f7c25dd9eddd&amp;ipo=images"/><Relationship Id="rId5" Type="http://schemas.openxmlformats.org/officeDocument/2006/relationships/image" Target="../media/image16.png&amp;f=1&amp;nofb=1&amp;ipt=14138805bc89b4c88b70c0585410e1182f28c3349b3e6a87c6e518d28aafb5a3&amp;ipo=images"/><Relationship Id="rId4" Type="http://schemas.openxmlformats.org/officeDocument/2006/relationships/hyperlink" Target="https://plotly.com/python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&amp;f=1&amp;nofb=1&amp;ipt=dddd11dac8002753fc91236a153da4517c1a78ec36b488d48d6cab939a519c41&amp;ipo=images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&amp;f=1&amp;nofb=1&amp;ipt=cb7bf839998088d8102b00e3041fa433a535fa92a4755866f169dcf8857ddd6a&amp;ipo=images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com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&amp;f=1&amp;nofb=1&amp;ipt=39b0bc1154555866b09e3acd84ea24fc3824975de30a2d1bcc16b03a95acc5f9&amp;ipo=images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ptuna.org/" TargetMode="External"/><Relationship Id="rId2" Type="http://schemas.openxmlformats.org/officeDocument/2006/relationships/hyperlink" Target="https://scikit-learn.org/stable/auto_examples/model_selection/plot_randomized_search.html" TargetMode="Externa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jgallard/vip" TargetMode="External"/><Relationship Id="rId2" Type="http://schemas.openxmlformats.org/officeDocument/2006/relationships/hyperlink" Target="mailto:agallard3@lavabit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ACC4-8BA4-D145-6D28-7181D4BB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2467-1D6D-30DE-402A-35783DB9D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Adrian Gallard | Data Analyst</a:t>
            </a:r>
          </a:p>
        </p:txBody>
      </p:sp>
      <p:pic>
        <p:nvPicPr>
          <p:cNvPr id="5" name="Graphic 4" descr="Hammer outline">
            <a:extLst>
              <a:ext uri="{FF2B5EF4-FFF2-40B4-BE49-F238E27FC236}">
                <a16:creationId xmlns:a16="http://schemas.microsoft.com/office/drawing/2014/main" id="{3BB87487-5794-72E6-8D65-87979D96C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437" y="25947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5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260644-1B07-A795-93B4-4F9DC7AF6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General workflow from </a:t>
            </a:r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data</a:t>
            </a:r>
            <a:r>
              <a:rPr lang="en-US" sz="4000" dirty="0"/>
              <a:t>    </a:t>
            </a:r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model</a:t>
            </a:r>
            <a:r>
              <a:rPr lang="en-US" sz="4000" dirty="0"/>
              <a:t>    </a:t>
            </a:r>
            <a:r>
              <a:rPr lang="en-US" sz="4000" dirty="0">
                <a:solidFill>
                  <a:schemeClr val="accent5">
                    <a:lumMod val="50000"/>
                  </a:schemeClr>
                </a:solidFill>
              </a:rPr>
              <a:t>reporting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dirty="0"/>
              <a:t>Learn about different resources that can assist you at each stage in the process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dirty="0"/>
              <a:t>Considerations for improved workflow practices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E9A2B6-1105-A875-A709-97976F53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Agenda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AAEB2F-E3DC-9F69-9CD0-224FD9FE8A3F}"/>
              </a:ext>
            </a:extLst>
          </p:cNvPr>
          <p:cNvSpPr/>
          <p:nvPr/>
        </p:nvSpPr>
        <p:spPr>
          <a:xfrm>
            <a:off x="7060675" y="1376313"/>
            <a:ext cx="301658" cy="20739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96015E8-6B3B-D49C-B648-208605C97430}"/>
              </a:ext>
            </a:extLst>
          </p:cNvPr>
          <p:cNvSpPr/>
          <p:nvPr/>
        </p:nvSpPr>
        <p:spPr>
          <a:xfrm>
            <a:off x="8958055" y="1376313"/>
            <a:ext cx="301658" cy="20739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2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3029172-9981-8697-51AF-5F606C1DF4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18173"/>
              </p:ext>
            </p:extLst>
          </p:nvPr>
        </p:nvGraphicFramePr>
        <p:xfrm>
          <a:off x="381000" y="1216025"/>
          <a:ext cx="11430000" cy="4224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9440CB7-1E29-9893-FCEB-9947FCBE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Workflow Stages</a:t>
            </a:r>
          </a:p>
        </p:txBody>
      </p:sp>
    </p:spTree>
    <p:extLst>
      <p:ext uri="{BB962C8B-B14F-4D97-AF65-F5344CB8AC3E}">
        <p14:creationId xmlns:p14="http://schemas.microsoft.com/office/powerpoint/2010/main" val="3762106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B876-C2EB-5C2E-A424-5BD2F630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148" y="2131423"/>
            <a:ext cx="7689098" cy="259515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00B050"/>
                </a:solidFill>
              </a:rPr>
              <a:t>Data Exploration</a:t>
            </a:r>
          </a:p>
        </p:txBody>
      </p:sp>
      <p:sp>
        <p:nvSpPr>
          <p:cNvPr id="4" name="Rectangle 3" descr="Bar chart">
            <a:extLst>
              <a:ext uri="{FF2B5EF4-FFF2-40B4-BE49-F238E27FC236}">
                <a16:creationId xmlns:a16="http://schemas.microsoft.com/office/drawing/2014/main" id="{3E793C2B-0B87-3A50-33D5-5081F4A0BADC}"/>
              </a:ext>
            </a:extLst>
          </p:cNvPr>
          <p:cNvSpPr/>
          <p:nvPr/>
        </p:nvSpPr>
        <p:spPr>
          <a:xfrm>
            <a:off x="9007121" y="2698518"/>
            <a:ext cx="1102500" cy="11025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00CD44CC-A5E3-70E0-F35F-047E012328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561179"/>
              </p:ext>
            </p:extLst>
          </p:nvPr>
        </p:nvGraphicFramePr>
        <p:xfrm>
          <a:off x="7630212" y="1961282"/>
          <a:ext cx="3125771" cy="3679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2700171B-28D5-9266-49A7-7DC1D0AF15AF}"/>
              </a:ext>
            </a:extLst>
          </p:cNvPr>
          <p:cNvSpPr/>
          <p:nvPr/>
        </p:nvSpPr>
        <p:spPr>
          <a:xfrm>
            <a:off x="7891052" y="2294850"/>
            <a:ext cx="2058750" cy="2058750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2D050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 descr="Chameleon with solid fill">
            <a:extLst>
              <a:ext uri="{FF2B5EF4-FFF2-40B4-BE49-F238E27FC236}">
                <a16:creationId xmlns:a16="http://schemas.microsoft.com/office/drawing/2014/main" id="{82C70AF0-3E6C-FE52-58E4-C30CED57F52F}"/>
              </a:ext>
            </a:extLst>
          </p:cNvPr>
          <p:cNvSpPr/>
          <p:nvPr/>
        </p:nvSpPr>
        <p:spPr>
          <a:xfrm>
            <a:off x="8329803" y="2733600"/>
            <a:ext cx="1181250" cy="118125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6EB9DE-2EA8-DD30-420B-4F21AD89E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Exploration is the practice of combing through and understanding your dataset better</a:t>
            </a:r>
          </a:p>
          <a:p>
            <a:r>
              <a:rPr lang="en-US" dirty="0"/>
              <a:t>It is critically important to generate visualizations throughout this stage</a:t>
            </a:r>
          </a:p>
          <a:p>
            <a:r>
              <a:rPr lang="en-US" dirty="0"/>
              <a:t>You can uncover the quality of the dataset you are currently working with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DE48EE-2E91-1B2F-8DFA-331044E7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61520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E7AA89-B1C5-5F0D-AD3E-54FC742B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Information</a:t>
            </a: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CCC9959B-F87F-64BD-3E6C-B6DB4B1B3CF3}"/>
              </a:ext>
            </a:extLst>
          </p:cNvPr>
          <p:cNvSpPr/>
          <p:nvPr/>
        </p:nvSpPr>
        <p:spPr>
          <a:xfrm>
            <a:off x="295274" y="209549"/>
            <a:ext cx="1329677" cy="123892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2D050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 descr="Chameleon with solid fill">
            <a:extLst>
              <a:ext uri="{FF2B5EF4-FFF2-40B4-BE49-F238E27FC236}">
                <a16:creationId xmlns:a16="http://schemas.microsoft.com/office/drawing/2014/main" id="{586CA66E-675A-81F3-114F-2902F9EAADCF}"/>
              </a:ext>
            </a:extLst>
          </p:cNvPr>
          <p:cNvSpPr/>
          <p:nvPr/>
        </p:nvSpPr>
        <p:spPr>
          <a:xfrm>
            <a:off x="585198" y="413165"/>
            <a:ext cx="762929" cy="7108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41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85E741-4479-C26E-44DE-5396E3173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5485"/>
            <a:ext cx="11429999" cy="2708816"/>
          </a:xfrm>
        </p:spPr>
        <p:txBody>
          <a:bodyPr/>
          <a:lstStyle/>
          <a:p>
            <a:r>
              <a:rPr lang="en-US" dirty="0"/>
              <a:t>For the most basic of exploration read in your dataset and find the following:</a:t>
            </a:r>
          </a:p>
          <a:p>
            <a:pPr lvl="1"/>
            <a:r>
              <a:rPr lang="en-US" dirty="0"/>
              <a:t>How much data do I have? (Rows)</a:t>
            </a:r>
          </a:p>
          <a:p>
            <a:pPr lvl="1"/>
            <a:r>
              <a:rPr lang="en-US" dirty="0"/>
              <a:t>How many features do I have? (Columns)</a:t>
            </a:r>
          </a:p>
          <a:p>
            <a:pPr lvl="1"/>
            <a:r>
              <a:rPr lang="en-US" dirty="0"/>
              <a:t>How is the data formatted?</a:t>
            </a:r>
          </a:p>
          <a:p>
            <a:pPr lvl="1"/>
            <a:r>
              <a:rPr lang="en-US" dirty="0"/>
              <a:t>Is there data missing?</a:t>
            </a:r>
          </a:p>
          <a:p>
            <a:pPr lvl="1"/>
            <a:r>
              <a:rPr lang="en-US" dirty="0"/>
              <a:t>Is there an imbalanced amount of target data?</a:t>
            </a:r>
          </a:p>
          <a:p>
            <a:pPr lvl="2"/>
            <a:r>
              <a:rPr lang="en-US" dirty="0"/>
              <a:t>Do I have an abundance of A but a scarce amount of B?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8C49E0-A94D-67B6-8651-65BD06A1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3542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C5F0-4D1D-31A0-3F75-19C00411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I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CA72-610D-9568-ACBB-BA848C0BA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5615353" cy="2623092"/>
          </a:xfrm>
        </p:spPr>
        <p:txBody>
          <a:bodyPr/>
          <a:lstStyle/>
          <a:p>
            <a:r>
              <a:rPr lang="en-US" dirty="0">
                <a:hlinkClick r:id="rId2"/>
              </a:rPr>
              <a:t>Pandas</a:t>
            </a:r>
            <a:r>
              <a:rPr lang="en-US" dirty="0"/>
              <a:t> is a great library for data analysis &amp; engineering</a:t>
            </a:r>
          </a:p>
          <a:p>
            <a:r>
              <a:rPr lang="en-US" dirty="0"/>
              <a:t>Pandas makes great use of pythonic capabilities</a:t>
            </a:r>
          </a:p>
          <a:p>
            <a:r>
              <a:rPr lang="en-US" dirty="0"/>
              <a:t>Alternatives:</a:t>
            </a:r>
          </a:p>
          <a:p>
            <a:pPr lvl="1"/>
            <a:r>
              <a:rPr lang="en-US" dirty="0"/>
              <a:t>Excel, R Studio</a:t>
            </a:r>
          </a:p>
        </p:txBody>
      </p:sp>
      <p:pic>
        <p:nvPicPr>
          <p:cNvPr id="6" name="Picture 5" descr="Introduction to Pandas: The Essential Python Library for Data Analysis">
            <a:extLst>
              <a:ext uri="{FF2B5EF4-FFF2-40B4-BE49-F238E27FC236}">
                <a16:creationId xmlns:a16="http://schemas.microsoft.com/office/drawing/2014/main" id="{E2F26213-3941-E1B5-C70F-2D5A13E4D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575" y="589359"/>
            <a:ext cx="5048250" cy="283964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C34C986-E48E-0046-7CDE-AD65223887DF}"/>
              </a:ext>
            </a:extLst>
          </p:cNvPr>
          <p:cNvSpPr txBox="1">
            <a:spLocks/>
          </p:cNvSpPr>
          <p:nvPr/>
        </p:nvSpPr>
        <p:spPr>
          <a:xfrm>
            <a:off x="379048" y="4130133"/>
            <a:ext cx="5615353" cy="2623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kern="120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may also consider using a web-based notebook like </a:t>
            </a:r>
            <a:r>
              <a:rPr lang="en-US" dirty="0">
                <a:hlinkClick r:id="rId4"/>
              </a:rPr>
              <a:t>Jupyter</a:t>
            </a:r>
            <a:r>
              <a:rPr lang="en-US" dirty="0"/>
              <a:t> Notebooks</a:t>
            </a:r>
          </a:p>
          <a:p>
            <a:r>
              <a:rPr lang="en-US" dirty="0"/>
              <a:t>Cell-based execution makes iterative exploration much more intuitive</a:t>
            </a:r>
          </a:p>
        </p:txBody>
      </p:sp>
      <p:pic>
        <p:nvPicPr>
          <p:cNvPr id="11" name="Picture 10" descr="Medium">
            <a:extLst>
              <a:ext uri="{FF2B5EF4-FFF2-40B4-BE49-F238E27FC236}">
                <a16:creationId xmlns:a16="http://schemas.microsoft.com/office/drawing/2014/main" id="{C20EC7C7-B6CC-D4C3-0E00-D798D019EF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812" t="10000" r="28229" b="6965"/>
          <a:stretch>
            <a:fillRect/>
          </a:stretch>
        </p:blipFill>
        <p:spPr>
          <a:xfrm>
            <a:off x="6486526" y="3988449"/>
            <a:ext cx="2145990" cy="228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2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21066-5EFE-CBD8-10A7-9087B0DB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EDC391-0550-B6C8-3F6B-350944A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Visualizations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B6E1AE30-8648-1528-05BB-C7A34275A9A1}"/>
              </a:ext>
            </a:extLst>
          </p:cNvPr>
          <p:cNvSpPr/>
          <p:nvPr/>
        </p:nvSpPr>
        <p:spPr>
          <a:xfrm>
            <a:off x="295274" y="209549"/>
            <a:ext cx="1329677" cy="123892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2D050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 descr="Chameleon with solid fill">
            <a:extLst>
              <a:ext uri="{FF2B5EF4-FFF2-40B4-BE49-F238E27FC236}">
                <a16:creationId xmlns:a16="http://schemas.microsoft.com/office/drawing/2014/main" id="{FB7A3AAD-6715-0332-D933-042CB6786B04}"/>
              </a:ext>
            </a:extLst>
          </p:cNvPr>
          <p:cNvSpPr/>
          <p:nvPr/>
        </p:nvSpPr>
        <p:spPr>
          <a:xfrm>
            <a:off x="585198" y="413165"/>
            <a:ext cx="762929" cy="7108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2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76E4-2A71-CB14-4970-6872A28ED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15484"/>
            <a:ext cx="11429999" cy="2527842"/>
          </a:xfrm>
        </p:spPr>
        <p:txBody>
          <a:bodyPr>
            <a:normAutofit/>
          </a:bodyPr>
          <a:lstStyle/>
          <a:p>
            <a:r>
              <a:rPr lang="en-US" dirty="0"/>
              <a:t>Visuals help clarify the behavior of data</a:t>
            </a:r>
          </a:p>
          <a:p>
            <a:r>
              <a:rPr lang="en-US" dirty="0"/>
              <a:t>Aid in communicating findings</a:t>
            </a:r>
          </a:p>
          <a:p>
            <a:r>
              <a:rPr lang="en-US" dirty="0"/>
              <a:t>Suggested Libraries:</a:t>
            </a:r>
          </a:p>
          <a:p>
            <a:pPr lvl="1"/>
            <a:r>
              <a:rPr lang="en-US" sz="2400" dirty="0">
                <a:hlinkClick r:id="rId2"/>
              </a:rPr>
              <a:t>Matplotlib</a:t>
            </a:r>
            <a:r>
              <a:rPr lang="en-US" sz="2400" dirty="0"/>
              <a:t>                    </a:t>
            </a:r>
            <a:r>
              <a:rPr lang="en-US" sz="2400" dirty="0">
                <a:hlinkClick r:id="rId3"/>
              </a:rPr>
              <a:t>Seaborn</a:t>
            </a:r>
            <a:r>
              <a:rPr lang="en-US" sz="2400" dirty="0"/>
              <a:t>                                                 </a:t>
            </a:r>
            <a:r>
              <a:rPr lang="en-US" sz="2400" dirty="0" err="1">
                <a:hlinkClick r:id="rId4"/>
              </a:rPr>
              <a:t>Plotly</a:t>
            </a: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93265-020D-31D5-EF53-A7FE0C7F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Visual Clarity</a:t>
            </a:r>
          </a:p>
        </p:txBody>
      </p:sp>
      <p:pic>
        <p:nvPicPr>
          <p:cNvPr id="4" name="Picture 3" descr="Data Visualization using Matplotlib in Python">
            <a:extLst>
              <a:ext uri="{FF2B5EF4-FFF2-40B4-BE49-F238E27FC236}">
                <a16:creationId xmlns:a16="http://schemas.microsoft.com/office/drawing/2014/main" id="{1EAF4CC1-8F29-DD65-2883-99184573E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46" y="2996516"/>
            <a:ext cx="2407055" cy="2407055"/>
          </a:xfrm>
          <a:prstGeom prst="rect">
            <a:avLst/>
          </a:prstGeom>
        </p:spPr>
      </p:pic>
      <p:pic>
        <p:nvPicPr>
          <p:cNvPr id="5" name="Picture 4" descr="Seaborn Python Chart - Seaborn Python Download - SUPMM">
            <a:extLst>
              <a:ext uri="{FF2B5EF4-FFF2-40B4-BE49-F238E27FC236}">
                <a16:creationId xmlns:a16="http://schemas.microsoft.com/office/drawing/2014/main" id="{52E68297-B7BA-1273-8E7B-81F950F7B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984" y="2996516"/>
            <a:ext cx="4112031" cy="2313017"/>
          </a:xfrm>
          <a:prstGeom prst="rect">
            <a:avLst/>
          </a:prstGeom>
        </p:spPr>
      </p:pic>
      <p:pic>
        <p:nvPicPr>
          <p:cNvPr id="7" name="Picture 6" descr="PyData London 2015 | Presentation: A Fast, Offline Reverse Geocoder in ...">
            <a:extLst>
              <a:ext uri="{FF2B5EF4-FFF2-40B4-BE49-F238E27FC236}">
                <a16:creationId xmlns:a16="http://schemas.microsoft.com/office/drawing/2014/main" id="{8987BC15-5FE3-FFD6-E622-553DB78B8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2" y="2996516"/>
            <a:ext cx="2162676" cy="2407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E34909-47B3-D0E5-4418-58AE54FA384F}"/>
              </a:ext>
            </a:extLst>
          </p:cNvPr>
          <p:cNvSpPr txBox="1"/>
          <p:nvPr/>
        </p:nvSpPr>
        <p:spPr>
          <a:xfrm>
            <a:off x="869546" y="5492548"/>
            <a:ext cx="2721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Built into many integrated visualizations</a:t>
            </a:r>
            <a:br>
              <a:rPr lang="en-US" dirty="0"/>
            </a:br>
            <a:r>
              <a:rPr lang="en-US" dirty="0"/>
              <a:t>- Basic Plots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27BC0-4C38-AFC0-392F-24A7546A2670}"/>
              </a:ext>
            </a:extLst>
          </p:cNvPr>
          <p:cNvSpPr txBox="1"/>
          <p:nvPr/>
        </p:nvSpPr>
        <p:spPr>
          <a:xfrm>
            <a:off x="4039984" y="5403571"/>
            <a:ext cx="4112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Access to Quick Plots</a:t>
            </a:r>
            <a:br>
              <a:rPr lang="en-US" dirty="0"/>
            </a:br>
            <a:r>
              <a:rPr lang="en-US" dirty="0"/>
              <a:t>- Built on Matplotlib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8CAF5-B44C-3999-9DA6-43499E277CA9}"/>
              </a:ext>
            </a:extLst>
          </p:cNvPr>
          <p:cNvSpPr txBox="1"/>
          <p:nvPr/>
        </p:nvSpPr>
        <p:spPr>
          <a:xfrm>
            <a:off x="8915401" y="5341344"/>
            <a:ext cx="2600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Interactive Plots</a:t>
            </a:r>
          </a:p>
          <a:p>
            <a:pPr marL="285750" indent="-285750">
              <a:buFontTx/>
              <a:buChar char="-"/>
            </a:pPr>
            <a:r>
              <a:rPr lang="en-US" dirty="0"/>
              <a:t>Great for Web-Apps</a:t>
            </a:r>
          </a:p>
        </p:txBody>
      </p:sp>
    </p:spTree>
    <p:extLst>
      <p:ext uri="{BB962C8B-B14F-4D97-AF65-F5344CB8AC3E}">
        <p14:creationId xmlns:p14="http://schemas.microsoft.com/office/powerpoint/2010/main" val="258095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B1DD-1830-D234-FC0E-C5468C1D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Pair-Plots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E1AD66-6B50-3C24-7FAA-EFC7EF30A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61" b="4641"/>
          <a:stretch/>
        </p:blipFill>
        <p:spPr bwMode="auto">
          <a:xfrm>
            <a:off x="5299936" y="457201"/>
            <a:ext cx="5853467" cy="54038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FD98-A481-5408-60A1-0C16124A9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>
            <a:normAutofit/>
          </a:bodyPr>
          <a:lstStyle/>
          <a:p>
            <a:r>
              <a:rPr lang="en-US"/>
              <a:t>pair-plots are a quick way to see a variety of feature comparisons that can show immediate trends</a:t>
            </a:r>
          </a:p>
        </p:txBody>
      </p:sp>
    </p:spTree>
    <p:extLst>
      <p:ext uri="{BB962C8B-B14F-4D97-AF65-F5344CB8AC3E}">
        <p14:creationId xmlns:p14="http://schemas.microsoft.com/office/powerpoint/2010/main" val="1078400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B1DD-1830-D234-FC0E-C5468C1D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>
            <a:normAutofit/>
          </a:bodyPr>
          <a:lstStyle/>
          <a:p>
            <a:r>
              <a:rPr lang="en-US" sz="4000" dirty="0"/>
              <a:t>Distributions</a:t>
            </a:r>
          </a:p>
        </p:txBody>
      </p:sp>
      <p:pic>
        <p:nvPicPr>
          <p:cNvPr id="1026" name="Picture 2" descr="KDE Plot Visualization with Pandas and Seaborn - GeeksforGeeks">
            <a:extLst>
              <a:ext uri="{FF2B5EF4-FFF2-40B4-BE49-F238E27FC236}">
                <a16:creationId xmlns:a16="http://schemas.microsoft.com/office/drawing/2014/main" id="{FBE1AD66-6B50-3C24-7FAA-EFC7EF30A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9" r="17860"/>
          <a:stretch>
            <a:fillRect/>
          </a:stretch>
        </p:blipFill>
        <p:spPr bwMode="auto">
          <a:xfrm>
            <a:off x="5848350" y="1458015"/>
            <a:ext cx="5019676" cy="378391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FD98-A481-5408-60A1-0C16124A9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1990725"/>
            <a:ext cx="4895849" cy="38782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Tell us how the data is spread out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 show if data leans in a particular direction or if it’s normally distributed</a:t>
            </a:r>
          </a:p>
        </p:txBody>
      </p:sp>
    </p:spTree>
    <p:extLst>
      <p:ext uri="{BB962C8B-B14F-4D97-AF65-F5344CB8AC3E}">
        <p14:creationId xmlns:p14="http://schemas.microsoft.com/office/powerpoint/2010/main" val="59573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B1DD-1830-D234-FC0E-C5468C1D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Histograms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E1AD66-6B50-3C24-7FAA-EFC7EF30A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5725" r="5725" b="-1"/>
          <a:stretch>
            <a:fillRect/>
          </a:stretch>
        </p:blipFill>
        <p:spPr bwMode="auto">
          <a:xfrm>
            <a:off x="4642338" y="457201"/>
            <a:ext cx="7168663" cy="54038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FD98-A481-5408-60A1-0C16124A9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>
            <a:normAutofit/>
          </a:bodyPr>
          <a:lstStyle/>
          <a:p>
            <a:r>
              <a:rPr lang="en-US" dirty="0"/>
              <a:t>Shows distribution with discrete numbers</a:t>
            </a:r>
          </a:p>
          <a:p>
            <a:r>
              <a:rPr lang="en-US" dirty="0"/>
              <a:t>A distribution can be inferred through Histograms</a:t>
            </a:r>
          </a:p>
        </p:txBody>
      </p:sp>
    </p:spTree>
    <p:extLst>
      <p:ext uri="{BB962C8B-B14F-4D97-AF65-F5344CB8AC3E}">
        <p14:creationId xmlns:p14="http://schemas.microsoft.com/office/powerpoint/2010/main" val="315159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7B1B-DEFB-D7DA-0DF0-8E5CB873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Scatterplots</a:t>
            </a:r>
          </a:p>
        </p:txBody>
      </p:sp>
      <p:pic>
        <p:nvPicPr>
          <p:cNvPr id="5" name="Content Placeholder 4" descr="Scatter Chart: Importance, Types, and Analysis">
            <a:extLst>
              <a:ext uri="{FF2B5EF4-FFF2-40B4-BE49-F238E27FC236}">
                <a16:creationId xmlns:a16="http://schemas.microsoft.com/office/drawing/2014/main" id="{D73D3DEC-E53A-F174-4B55-F5BB850A4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087" b="-2"/>
          <a:stretch>
            <a:fillRect/>
          </a:stretch>
        </p:blipFill>
        <p:spPr>
          <a:xfrm>
            <a:off x="4642338" y="457201"/>
            <a:ext cx="7168663" cy="540385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6440-3C9A-B932-2B75-CDF41E786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>
            <a:normAutofit/>
          </a:bodyPr>
          <a:lstStyle/>
          <a:p>
            <a:r>
              <a:rPr lang="en-US"/>
              <a:t>Great for detecting potential relationships between features against your target label</a:t>
            </a:r>
          </a:p>
        </p:txBody>
      </p:sp>
    </p:spTree>
    <p:extLst>
      <p:ext uri="{BB962C8B-B14F-4D97-AF65-F5344CB8AC3E}">
        <p14:creationId xmlns:p14="http://schemas.microsoft.com/office/powerpoint/2010/main" val="3149352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FD98-A481-5408-60A1-0C16124A9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15485"/>
            <a:ext cx="4598406" cy="4225650"/>
          </a:xfrm>
        </p:spPr>
        <p:txBody>
          <a:bodyPr>
            <a:normAutofit/>
          </a:bodyPr>
          <a:lstStyle/>
          <a:p>
            <a:r>
              <a:rPr lang="en-US" sz="3600" dirty="0"/>
              <a:t>Boxplots are an excellent way to identify outliers within a dataset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You can use violin-plots for more detail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B1DD-1830-D234-FC0E-C5468C1D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E1AD66-6B50-3C24-7FAA-EFC7EF30A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-2635" r="16273"/>
          <a:stretch/>
        </p:blipFill>
        <p:spPr bwMode="auto">
          <a:xfrm>
            <a:off x="4721903" y="400762"/>
            <a:ext cx="6760218" cy="559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692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FD98-A481-5408-60A1-0C16124A9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15485"/>
            <a:ext cx="3819808" cy="4225650"/>
          </a:xfrm>
        </p:spPr>
        <p:txBody>
          <a:bodyPr>
            <a:normAutofit/>
          </a:bodyPr>
          <a:lstStyle/>
          <a:p>
            <a:r>
              <a:rPr lang="en-US" sz="3200" dirty="0"/>
              <a:t>Heatmaps can be used to visualize missing values and their impact on a dataset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B1DD-1830-D234-FC0E-C5468C1D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Heatmaps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E1AD66-6B50-3C24-7FAA-EFC7EF30A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2372" r="2473"/>
          <a:stretch/>
        </p:blipFill>
        <p:spPr bwMode="auto">
          <a:xfrm>
            <a:off x="4467732" y="162472"/>
            <a:ext cx="7219677" cy="582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017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884FF9-B1F0-A22A-C64E-072E2CC6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Dependent Visualizations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57207-BD15-80EC-EB23-85C9D0A9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datasets require unique applications</a:t>
            </a:r>
          </a:p>
          <a:p>
            <a:pPr lvl="1"/>
            <a:r>
              <a:rPr lang="en-US" dirty="0"/>
              <a:t>Time Series</a:t>
            </a:r>
          </a:p>
          <a:p>
            <a:pPr lvl="1"/>
            <a:r>
              <a:rPr lang="en-US" dirty="0"/>
              <a:t>Networks</a:t>
            </a:r>
          </a:p>
          <a:p>
            <a:pPr lvl="1"/>
            <a:r>
              <a:rPr lang="en-US" dirty="0"/>
              <a:t>Natural Language</a:t>
            </a:r>
          </a:p>
          <a:p>
            <a:pPr lvl="1"/>
            <a:r>
              <a:rPr lang="en-US" dirty="0"/>
              <a:t>Sound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etc.</a:t>
            </a:r>
          </a:p>
        </p:txBody>
      </p:sp>
      <p:pic>
        <p:nvPicPr>
          <p:cNvPr id="11" name="Graphic 10" descr="Cube with solid fill">
            <a:extLst>
              <a:ext uri="{FF2B5EF4-FFF2-40B4-BE49-F238E27FC236}">
                <a16:creationId xmlns:a16="http://schemas.microsoft.com/office/drawing/2014/main" id="{44927824-1EC8-F578-FC06-95C0B5D60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625" y="2057400"/>
            <a:ext cx="3077918" cy="307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07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EA8CF-747E-C402-FA7A-36604EAF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– Trends, Cycles, Seasons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3D2A-E612-532D-177F-94011DBC2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EDDF3-24B1-ADB6-B468-3A1EBE104C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Forecasting – Introduction to Operations Management">
            <a:extLst>
              <a:ext uri="{FF2B5EF4-FFF2-40B4-BE49-F238E27FC236}">
                <a16:creationId xmlns:a16="http://schemas.microsoft.com/office/drawing/2014/main" id="{3F22D2DF-A7E6-AED0-7BDD-F503C264C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5213"/>
            <a:ext cx="12192000" cy="472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12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98C3-80F1-A8A5-774D-382B9851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Analysis</a:t>
            </a:r>
          </a:p>
        </p:txBody>
      </p:sp>
      <p:pic>
        <p:nvPicPr>
          <p:cNvPr id="5" name="Content Placeholder 4" descr="Network Model Analysis of Quality Control Factors of Prefabricated ...">
            <a:extLst>
              <a:ext uri="{FF2B5EF4-FFF2-40B4-BE49-F238E27FC236}">
                <a16:creationId xmlns:a16="http://schemas.microsoft.com/office/drawing/2014/main" id="{A8695B1C-B71D-7B41-C7C6-AF08BCA36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1879" y="1133407"/>
            <a:ext cx="6872491" cy="541324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60BB8-0596-506F-F92F-6BBF854E2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6920" y="1215483"/>
            <a:ext cx="4524080" cy="422565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What relationships exists in the data?</a:t>
            </a:r>
          </a:p>
          <a:p>
            <a:endParaRPr lang="en-US" sz="3200" dirty="0"/>
          </a:p>
          <a:p>
            <a:r>
              <a:rPr lang="en-US" sz="3200" dirty="0"/>
              <a:t>Do any groups emerge?</a:t>
            </a:r>
          </a:p>
          <a:p>
            <a:endParaRPr lang="en-US" sz="3200" dirty="0"/>
          </a:p>
          <a:p>
            <a:r>
              <a:rPr lang="en-US" sz="3200" dirty="0"/>
              <a:t>If so, how do these groups interact?</a:t>
            </a:r>
          </a:p>
          <a:p>
            <a:endParaRPr lang="en-US" sz="3200" dirty="0"/>
          </a:p>
          <a:p>
            <a:r>
              <a:rPr lang="en-US" sz="3200" dirty="0"/>
              <a:t>What do these findings imply?</a:t>
            </a:r>
          </a:p>
        </p:txBody>
      </p:sp>
    </p:spTree>
    <p:extLst>
      <p:ext uri="{BB962C8B-B14F-4D97-AF65-F5344CB8AC3E}">
        <p14:creationId xmlns:p14="http://schemas.microsoft.com/office/powerpoint/2010/main" val="404015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88E8-003F-0EE5-196E-4DFF1FF6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30E963-6FC4-FF94-4EBF-3DF85F1F9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5485"/>
            <a:ext cx="11429999" cy="2708816"/>
          </a:xfrm>
        </p:spPr>
        <p:txBody>
          <a:bodyPr>
            <a:normAutofit/>
          </a:bodyPr>
          <a:lstStyle/>
          <a:p>
            <a:r>
              <a:rPr lang="en-US" dirty="0"/>
              <a:t>Once you understand your data you may likely need to adjust some parameters for your data</a:t>
            </a:r>
          </a:p>
          <a:p>
            <a:r>
              <a:rPr lang="en-US" dirty="0"/>
              <a:t>Discussions on feature-engineering are beyond today’s discussion</a:t>
            </a:r>
          </a:p>
          <a:p>
            <a:r>
              <a:rPr lang="en-US" dirty="0"/>
              <a:t>If you have questions on how best to process your data prior to model building feel free to reach out with questions! </a:t>
            </a:r>
            <a:r>
              <a:rPr lang="en-US" dirty="0">
                <a:solidFill>
                  <a:schemeClr val="accent1"/>
                </a:solidFill>
              </a:rPr>
              <a:t>(Contact Info at end of presentation)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3F7C8C-701A-BF3F-A86D-D44DE6B0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Note on </a:t>
            </a:r>
            <a:r>
              <a:rPr lang="en-US" dirty="0"/>
              <a:t>Data Preprocessing</a:t>
            </a:r>
          </a:p>
        </p:txBody>
      </p:sp>
      <p:pic>
        <p:nvPicPr>
          <p:cNvPr id="3" name="Graphic 2" descr="Production with solid fill">
            <a:extLst>
              <a:ext uri="{FF2B5EF4-FFF2-40B4-BE49-F238E27FC236}">
                <a16:creationId xmlns:a16="http://schemas.microsoft.com/office/drawing/2014/main" id="{EA598106-E5E2-528D-696C-E343B9F20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1425" y="3352799"/>
            <a:ext cx="3190876" cy="319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59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003C-5461-6908-84DA-4BDE8A4D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D132-2009-B6C8-6633-85D8A1BB5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148" y="2131423"/>
            <a:ext cx="7689098" cy="259515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Model Building</a:t>
            </a:r>
          </a:p>
        </p:txBody>
      </p:sp>
      <p:sp>
        <p:nvSpPr>
          <p:cNvPr id="4" name="Rectangle 3" descr="Bar chart">
            <a:extLst>
              <a:ext uri="{FF2B5EF4-FFF2-40B4-BE49-F238E27FC236}">
                <a16:creationId xmlns:a16="http://schemas.microsoft.com/office/drawing/2014/main" id="{B73F1D21-5F28-B36B-0818-0545FFACF6C1}"/>
              </a:ext>
            </a:extLst>
          </p:cNvPr>
          <p:cNvSpPr/>
          <p:nvPr/>
        </p:nvSpPr>
        <p:spPr>
          <a:xfrm>
            <a:off x="9007121" y="2698518"/>
            <a:ext cx="1102500" cy="11025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7A3B2C6-9299-BB18-1820-07EFAED1C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353983"/>
              </p:ext>
            </p:extLst>
          </p:nvPr>
        </p:nvGraphicFramePr>
        <p:xfrm>
          <a:off x="7630212" y="1961282"/>
          <a:ext cx="3125771" cy="3679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58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593B74-7073-630C-492A-E0EB1CEA9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work is built on your previous Data Exploration efforts</a:t>
            </a:r>
          </a:p>
          <a:p>
            <a:r>
              <a:rPr lang="en-US" dirty="0"/>
              <a:t>Generally, you’ll want to try multiple models</a:t>
            </a:r>
          </a:p>
          <a:p>
            <a:r>
              <a:rPr lang="en-US" dirty="0"/>
              <a:t>You’ll also want to try optimizing models for improved performance</a:t>
            </a:r>
          </a:p>
          <a:p>
            <a:r>
              <a:rPr lang="en-US" dirty="0"/>
              <a:t>Visualizations still play a part in your model selection decision</a:t>
            </a:r>
          </a:p>
          <a:p>
            <a:r>
              <a:rPr lang="en-US" dirty="0"/>
              <a:t>Model Building can serve two general purposes</a:t>
            </a:r>
          </a:p>
          <a:p>
            <a:pPr lvl="1"/>
            <a:r>
              <a:rPr lang="en-US" dirty="0"/>
              <a:t>Prediction</a:t>
            </a:r>
          </a:p>
          <a:p>
            <a:pPr lvl="2"/>
            <a:r>
              <a:rPr lang="en-US" dirty="0"/>
              <a:t>Model is intended for active-use on new incoming data</a:t>
            </a:r>
          </a:p>
          <a:p>
            <a:pPr lvl="1"/>
            <a:r>
              <a:rPr lang="en-US" dirty="0"/>
              <a:t>Interpretation</a:t>
            </a:r>
          </a:p>
          <a:p>
            <a:pPr lvl="2"/>
            <a:r>
              <a:rPr lang="en-US" dirty="0"/>
              <a:t>Model is intended for understanding underlying patterns</a:t>
            </a:r>
          </a:p>
          <a:p>
            <a:pPr lvl="2"/>
            <a:r>
              <a:rPr lang="en-US" dirty="0"/>
              <a:t>New incoming data serve to confirm past behavior or indicate a shift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3D937F-DC67-396C-8EBE-C70EDCE1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</p:spTree>
    <p:extLst>
      <p:ext uri="{BB962C8B-B14F-4D97-AF65-F5344CB8AC3E}">
        <p14:creationId xmlns:p14="http://schemas.microsoft.com/office/powerpoint/2010/main" val="2374588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B44F-F31D-EDF1-254F-89DE89B4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E4740D-E39F-0119-70B8-D438867C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 &amp; Optimizations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71D9E5D-3A3C-E8E0-5AF3-F6492F71FB13}"/>
              </a:ext>
            </a:extLst>
          </p:cNvPr>
          <p:cNvSpPr/>
          <p:nvPr/>
        </p:nvSpPr>
        <p:spPr>
          <a:xfrm>
            <a:off x="296193" y="269647"/>
            <a:ext cx="1343644" cy="1334119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 descr="Building Brick Wall with solid fill">
            <a:extLst>
              <a:ext uri="{FF2B5EF4-FFF2-40B4-BE49-F238E27FC236}">
                <a16:creationId xmlns:a16="http://schemas.microsoft.com/office/drawing/2014/main" id="{785404BE-E7C1-4B8C-B252-3CD00AE2B4E6}"/>
              </a:ext>
            </a:extLst>
          </p:cNvPr>
          <p:cNvSpPr/>
          <p:nvPr/>
        </p:nvSpPr>
        <p:spPr>
          <a:xfrm>
            <a:off x="582544" y="553968"/>
            <a:ext cx="770943" cy="76547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63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1A189F-991C-12AA-9F87-4C37BC76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Classifiers &amp; Regressions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7AC8A1-DABB-7343-C35E-AD61E8E5A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6221777" cy="4225652"/>
          </a:xfrm>
        </p:spPr>
        <p:txBody>
          <a:bodyPr>
            <a:normAutofit/>
          </a:bodyPr>
          <a:lstStyle/>
          <a:p>
            <a:r>
              <a:rPr lang="en-US" dirty="0"/>
              <a:t>For your standard classification &amp; regression work Scikit-Learn is a great library to work with</a:t>
            </a:r>
          </a:p>
          <a:p>
            <a:r>
              <a:rPr lang="en-US" dirty="0"/>
              <a:t>Built-in tools for k-folds and train-test splits</a:t>
            </a:r>
          </a:p>
          <a:p>
            <a:r>
              <a:rPr lang="en-US" dirty="0"/>
              <a:t>Has multiple “off-the-shelf” algorithms:</a:t>
            </a:r>
          </a:p>
          <a:p>
            <a:pPr lvl="1"/>
            <a:r>
              <a:rPr lang="en-US" dirty="0"/>
              <a:t>SVM, Logistic Regression, AdaBoost, Stochastic Gradient Descent, Random Forests, etc.</a:t>
            </a:r>
          </a:p>
          <a:p>
            <a:r>
              <a:rPr lang="en-US" dirty="0"/>
              <a:t>Lots of Tutorials, Guides, &amp; Example Usage</a:t>
            </a:r>
          </a:p>
          <a:p>
            <a:endParaRPr lang="en-US" dirty="0"/>
          </a:p>
        </p:txBody>
      </p:sp>
      <p:pic>
        <p:nvPicPr>
          <p:cNvPr id="9" name="Content Placeholder 8" descr="&quot;Mastering Machine Learning with Scikit-Learn: A Step-by-Step Guide&quot;">
            <a:extLst>
              <a:ext uri="{FF2B5EF4-FFF2-40B4-BE49-F238E27FC236}">
                <a16:creationId xmlns:a16="http://schemas.microsoft.com/office/drawing/2014/main" id="{BABDD473-FEC3-CF71-227B-C80D0FE220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9242" t="29634" r="24095" b="27832"/>
          <a:stretch>
            <a:fillRect/>
          </a:stretch>
        </p:blipFill>
        <p:spPr>
          <a:xfrm>
            <a:off x="6600825" y="1834607"/>
            <a:ext cx="5065149" cy="267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60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EAE2-4B21-D6B9-EE91-B61A86C7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6FB932-1019-CE3A-ECCC-5372F6A3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 &amp; LLMs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3725EE-5330-13D7-E1D8-ADBC32A20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048" y="1215483"/>
            <a:ext cx="6107477" cy="4642392"/>
          </a:xfrm>
        </p:spPr>
        <p:txBody>
          <a:bodyPr>
            <a:normAutofit/>
          </a:bodyPr>
          <a:lstStyle/>
          <a:p>
            <a:r>
              <a:rPr lang="en-US" dirty="0"/>
              <a:t>Huggingface is a great library for Transformer-based architectures and LLMs</a:t>
            </a:r>
          </a:p>
          <a:p>
            <a:r>
              <a:rPr lang="en-US" dirty="0"/>
              <a:t>Documentation &amp; Guides are available</a:t>
            </a:r>
          </a:p>
          <a:p>
            <a:r>
              <a:rPr lang="en-US" dirty="0"/>
              <a:t>Great for Natural Language Processing (NLP)</a:t>
            </a:r>
          </a:p>
          <a:p>
            <a:pPr lvl="1"/>
            <a:r>
              <a:rPr lang="en-US" dirty="0"/>
              <a:t>Text Classification, Fill-in the Blank, Text Generation, Topic Modeling, Sentiment-Analysis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 descr="Hugging Face full logo transparent PNG - StickPNG">
            <a:extLst>
              <a:ext uri="{FF2B5EF4-FFF2-40B4-BE49-F238E27FC236}">
                <a16:creationId xmlns:a16="http://schemas.microsoft.com/office/drawing/2014/main" id="{FD90D16D-79C3-9EF5-ECA6-809E68083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773384"/>
            <a:ext cx="6640899" cy="442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72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85BC33-1216-2042-75F4-699985674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5563"/>
            <a:ext cx="5617633" cy="823912"/>
          </a:xfrm>
        </p:spPr>
        <p:txBody>
          <a:bodyPr>
            <a:normAutofit/>
          </a:bodyPr>
          <a:lstStyle/>
          <a:p>
            <a:r>
              <a:rPr lang="en-US" sz="3200" dirty="0"/>
              <a:t>Basic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0A89-4497-FD5E-BF80-B71F3CCF7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869108"/>
            <a:ext cx="5617633" cy="3769692"/>
          </a:xfrm>
        </p:spPr>
        <p:txBody>
          <a:bodyPr>
            <a:normAutofit fontScale="92500"/>
          </a:bodyPr>
          <a:lstStyle/>
          <a:p>
            <a:r>
              <a:rPr lang="en-US" dirty="0"/>
              <a:t>Utilize a base model without fine-tuning</a:t>
            </a:r>
          </a:p>
          <a:p>
            <a:pPr lvl="1"/>
            <a:r>
              <a:rPr lang="en-US" dirty="0"/>
              <a:t>Metrics serve as baseline for performance</a:t>
            </a:r>
          </a:p>
          <a:p>
            <a:r>
              <a:rPr lang="en-US" dirty="0"/>
              <a:t>Create a fine-tuning pipeline for an “optimized model”</a:t>
            </a:r>
          </a:p>
          <a:p>
            <a:pPr lvl="1"/>
            <a:r>
              <a:rPr lang="en-US" dirty="0"/>
              <a:t>Compare to your baseline</a:t>
            </a:r>
          </a:p>
          <a:p>
            <a:r>
              <a:rPr lang="en-US" b="1" i="1" u="sng" dirty="0"/>
              <a:t>Always</a:t>
            </a:r>
            <a:r>
              <a:rPr lang="en-US" dirty="0"/>
              <a:t> use visualizations to gauge performance</a:t>
            </a:r>
          </a:p>
          <a:p>
            <a:r>
              <a:rPr lang="en-US" b="1" i="1" u="sng" dirty="0"/>
              <a:t>Save your metrics</a:t>
            </a:r>
          </a:p>
          <a:p>
            <a:pPr lvl="1"/>
            <a:r>
              <a:rPr lang="en-US" dirty="0"/>
              <a:t>Save to external file (csv, txt)</a:t>
            </a:r>
          </a:p>
          <a:p>
            <a:pPr lvl="1"/>
            <a:r>
              <a:rPr lang="en-US" dirty="0"/>
              <a:t>Save visualizations</a:t>
            </a:r>
          </a:p>
          <a:p>
            <a:pPr lvl="1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95EF5D-C091-C78A-AEA4-D1BD606FC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25563"/>
            <a:ext cx="5638800" cy="823912"/>
          </a:xfrm>
        </p:spPr>
        <p:txBody>
          <a:bodyPr>
            <a:normAutofit/>
          </a:bodyPr>
          <a:lstStyle/>
          <a:p>
            <a:r>
              <a:rPr lang="en-US" sz="3200" dirty="0"/>
              <a:t>Fine-tuning details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DAE071-4FF1-A290-3B41-3D1EF71A3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69108"/>
            <a:ext cx="5638800" cy="3769692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Random/</a:t>
            </a:r>
            <a:r>
              <a:rPr lang="en-US" dirty="0" err="1">
                <a:hlinkClick r:id="rId2"/>
              </a:rPr>
              <a:t>GridSearch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dirty="0" err="1"/>
              <a:t>Sklearn</a:t>
            </a:r>
            <a:r>
              <a:rPr lang="en-US" dirty="0"/>
              <a:t> modules</a:t>
            </a:r>
          </a:p>
          <a:p>
            <a:pPr lvl="1"/>
            <a:r>
              <a:rPr lang="en-US" dirty="0"/>
              <a:t>Start with a wide search via </a:t>
            </a:r>
            <a:r>
              <a:rPr lang="en-US" dirty="0" err="1"/>
              <a:t>RandomSearchCV</a:t>
            </a:r>
            <a:endParaRPr lang="en-US" dirty="0"/>
          </a:p>
          <a:p>
            <a:pPr lvl="1"/>
            <a:r>
              <a:rPr lang="en-US" dirty="0"/>
              <a:t>Narrow down your optimization via </a:t>
            </a:r>
            <a:r>
              <a:rPr lang="en-US" dirty="0" err="1"/>
              <a:t>GridSearch</a:t>
            </a:r>
            <a:endParaRPr lang="en-US" dirty="0"/>
          </a:p>
          <a:p>
            <a:r>
              <a:rPr lang="en-US" dirty="0" err="1">
                <a:hlinkClick r:id="rId3"/>
              </a:rPr>
              <a:t>Optuna</a:t>
            </a:r>
            <a:endParaRPr lang="en-US" dirty="0"/>
          </a:p>
          <a:p>
            <a:pPr lvl="1"/>
            <a:r>
              <a:rPr lang="en-US" dirty="0"/>
              <a:t>Bayesian Optimization</a:t>
            </a:r>
          </a:p>
          <a:p>
            <a:pPr lvl="1"/>
            <a:r>
              <a:rPr lang="en-US" dirty="0"/>
              <a:t>Acts as “fusion” of Random &amp; Grid Methods</a:t>
            </a:r>
          </a:p>
          <a:p>
            <a:pPr lvl="1"/>
            <a:r>
              <a:rPr lang="en-US" dirty="0"/>
              <a:t>Provides built-in visualizations for optimization process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A2AD2-6114-FD90-B491-26FA53E6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Stages</a:t>
            </a:r>
          </a:p>
        </p:txBody>
      </p:sp>
    </p:spTree>
    <p:extLst>
      <p:ext uri="{BB962C8B-B14F-4D97-AF65-F5344CB8AC3E}">
        <p14:creationId xmlns:p14="http://schemas.microsoft.com/office/powerpoint/2010/main" val="171001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 uiExpand="1" build="p"/>
      <p:bldP spid="8" grpId="0" build="p"/>
      <p:bldP spid="9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58CE-F882-40B0-C6D7-DBE9DF53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CA4269-D504-9C73-05CB-FC336A71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&amp; Selection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7EDD9DC-C7C8-BBD9-1133-8407A9C7D780}"/>
              </a:ext>
            </a:extLst>
          </p:cNvPr>
          <p:cNvSpPr/>
          <p:nvPr/>
        </p:nvSpPr>
        <p:spPr>
          <a:xfrm>
            <a:off x="296193" y="269647"/>
            <a:ext cx="1343644" cy="1334119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 descr="Building Brick Wall with solid fill">
            <a:extLst>
              <a:ext uri="{FF2B5EF4-FFF2-40B4-BE49-F238E27FC236}">
                <a16:creationId xmlns:a16="http://schemas.microsoft.com/office/drawing/2014/main" id="{ED1886E8-119D-0250-F3E5-286554F12363}"/>
              </a:ext>
            </a:extLst>
          </p:cNvPr>
          <p:cNvSpPr/>
          <p:nvPr/>
        </p:nvSpPr>
        <p:spPr>
          <a:xfrm>
            <a:off x="582544" y="553968"/>
            <a:ext cx="770943" cy="76547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17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What is the Confusion Matrix in Machine Learning? What is Type 1 and Type 2 Error? – Brew Code">
            <a:extLst>
              <a:ext uri="{FF2B5EF4-FFF2-40B4-BE49-F238E27FC236}">
                <a16:creationId xmlns:a16="http://schemas.microsoft.com/office/drawing/2014/main" id="{71361DBA-D0BD-0DA2-C9DA-8B2E4D9A4B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93760" y="1216025"/>
            <a:ext cx="4804480" cy="422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FDC8D8-8AB5-1879-C22E-81384C55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were the Results?: </a:t>
            </a:r>
            <a:br>
              <a:rPr lang="en-US" dirty="0"/>
            </a:br>
            <a:r>
              <a:rPr lang="en-US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328444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172B2-6B38-2673-F892-849991DD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B729-CA85-39CC-B8F4-0677FF86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model fits best? : </a:t>
            </a:r>
            <a:br>
              <a:rPr lang="en-US" dirty="0"/>
            </a:br>
            <a:r>
              <a:rPr lang="en-US" dirty="0"/>
              <a:t>ROC / AUC</a:t>
            </a:r>
          </a:p>
        </p:txBody>
      </p:sp>
      <p:pic>
        <p:nvPicPr>
          <p:cNvPr id="7170" name="Picture 2" descr="如何深刻理解 AUC-ROC 曲线 - 知乎">
            <a:extLst>
              <a:ext uri="{FF2B5EF4-FFF2-40B4-BE49-F238E27FC236}">
                <a16:creationId xmlns:a16="http://schemas.microsoft.com/office/drawing/2014/main" id="{239E73CC-EFE0-9F82-1037-4B6336EE3E20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400" y="1825625"/>
            <a:ext cx="49276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FBEC87-1E98-86A9-1C6A-45B083044FB0}"/>
              </a:ext>
            </a:extLst>
          </p:cNvPr>
          <p:cNvSpPr txBox="1"/>
          <p:nvPr/>
        </p:nvSpPr>
        <p:spPr>
          <a:xfrm>
            <a:off x="457200" y="1825625"/>
            <a:ext cx="57150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Receiver Operating Characteristic (ROC):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Compares True Positive &amp; False Positive Rates to gauge how well a model fits to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Area Under the Curve (AUC):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amount of space covered by the ROC Curve which indicates how well the model fits</a:t>
            </a:r>
          </a:p>
        </p:txBody>
      </p:sp>
    </p:spTree>
    <p:extLst>
      <p:ext uri="{BB962C8B-B14F-4D97-AF65-F5344CB8AC3E}">
        <p14:creationId xmlns:p14="http://schemas.microsoft.com/office/powerpoint/2010/main" val="3375788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172B2-6B38-2673-F892-849991DD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B729-CA85-39CC-B8F4-0677FF86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model fits best? : </a:t>
            </a:r>
            <a:br>
              <a:rPr lang="en-US" dirty="0"/>
            </a:br>
            <a:r>
              <a:rPr lang="en-US" dirty="0"/>
              <a:t>Precision-Recall Curve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39E73CC-EFE0-9F82-1037-4B6336EE3E20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/>
        </p:blipFill>
        <p:spPr bwMode="auto">
          <a:xfrm>
            <a:off x="7791450" y="1825625"/>
            <a:ext cx="440055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FBEC87-1E98-86A9-1C6A-45B083044FB0}"/>
              </a:ext>
            </a:extLst>
          </p:cNvPr>
          <p:cNvSpPr txBox="1"/>
          <p:nvPr/>
        </p:nvSpPr>
        <p:spPr>
          <a:xfrm>
            <a:off x="457200" y="1825625"/>
            <a:ext cx="57150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Precision-Recall Curve: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Similar to ROC/AUC but uses Precision instead of FPR (also known as Fallout)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Precision</a:t>
            </a:r>
            <a:r>
              <a:rPr lang="en-US" sz="2400" dirty="0"/>
              <a:t> is number of true positives out of all positive predictions </a:t>
            </a:r>
            <a:r>
              <a:rPr lang="en-US" sz="2400" b="1" dirty="0"/>
              <a:t>(TP/P)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Recall</a:t>
            </a:r>
            <a:r>
              <a:rPr lang="en-US" sz="2400" dirty="0"/>
              <a:t> is the number of true positives out of all true positives and false negatives </a:t>
            </a:r>
            <a:r>
              <a:rPr lang="en-US" sz="2400" b="1" dirty="0"/>
              <a:t>(TP/TP + FN)</a:t>
            </a:r>
          </a:p>
        </p:txBody>
      </p:sp>
    </p:spTree>
    <p:extLst>
      <p:ext uri="{BB962C8B-B14F-4D97-AF65-F5344CB8AC3E}">
        <p14:creationId xmlns:p14="http://schemas.microsoft.com/office/powerpoint/2010/main" val="4235345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956D-11E4-AFAF-C115-3F0D162E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How did the model learn?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103F25-FA20-5519-2E63-2DF9739F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38" y="470877"/>
            <a:ext cx="7168663" cy="5376497"/>
          </a:xfrm>
          <a:prstGeom prst="rect">
            <a:avLst/>
          </a:prstGeom>
          <a:noFill/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D85600D-478F-8D45-F9F1-FDF2A5CA8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49"/>
            <a:ext cx="3932767" cy="359413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When appropriate, we should visualize our model learning process as well as key target metrics</a:t>
            </a:r>
          </a:p>
        </p:txBody>
      </p:sp>
      <p:sp>
        <p:nvSpPr>
          <p:cNvPr id="9" name="AutoShape 10" descr="Comparison Graph depicting the accuracy vs. epoch of experimented ...">
            <a:extLst>
              <a:ext uri="{FF2B5EF4-FFF2-40B4-BE49-F238E27FC236}">
                <a16:creationId xmlns:a16="http://schemas.microsoft.com/office/drawing/2014/main" id="{60BB791E-430E-6DCC-1E9B-E7BB98BDE8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4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55874-F1EC-72EF-878A-5E67E4E9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04FD-DF46-A23E-6A53-460D153D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148" y="2131423"/>
            <a:ext cx="7689098" cy="259515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Show Your Work</a:t>
            </a:r>
          </a:p>
        </p:txBody>
      </p:sp>
      <p:sp>
        <p:nvSpPr>
          <p:cNvPr id="4" name="Rectangle 3" descr="Bar chart">
            <a:extLst>
              <a:ext uri="{FF2B5EF4-FFF2-40B4-BE49-F238E27FC236}">
                <a16:creationId xmlns:a16="http://schemas.microsoft.com/office/drawing/2014/main" id="{F7F3590D-F356-EB27-6DF6-9D5BD11DFA42}"/>
              </a:ext>
            </a:extLst>
          </p:cNvPr>
          <p:cNvSpPr/>
          <p:nvPr/>
        </p:nvSpPr>
        <p:spPr>
          <a:xfrm>
            <a:off x="9007121" y="2698518"/>
            <a:ext cx="1102500" cy="11025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0B8D8586-433E-54C9-672C-F713BC5B6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178829"/>
              </p:ext>
            </p:extLst>
          </p:nvPr>
        </p:nvGraphicFramePr>
        <p:xfrm>
          <a:off x="7630212" y="1961282"/>
          <a:ext cx="3125771" cy="3679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9619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0D55-29D9-2785-2E9B-17D7887D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218AAA-9F0C-54C4-BFE4-0F78BB16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a good model is great but not the final step</a:t>
            </a:r>
          </a:p>
          <a:p>
            <a:r>
              <a:rPr lang="en-US" dirty="0"/>
              <a:t>You need to ensure you understand the decision-making process behind your model</a:t>
            </a:r>
          </a:p>
          <a:p>
            <a:r>
              <a:rPr lang="en-US" dirty="0"/>
              <a:t>You’ll also need to focus on communicating your findings</a:t>
            </a:r>
          </a:p>
          <a:p>
            <a:r>
              <a:rPr lang="en-US" dirty="0"/>
              <a:t>The delivery of the report may be dependent on your organization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A40557-D8B1-AB26-1FA3-2A139842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Showing your work</a:t>
            </a:r>
          </a:p>
        </p:txBody>
      </p:sp>
    </p:spTree>
    <p:extLst>
      <p:ext uri="{BB962C8B-B14F-4D97-AF65-F5344CB8AC3E}">
        <p14:creationId xmlns:p14="http://schemas.microsoft.com/office/powerpoint/2010/main" val="841799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D5E6-13BB-9392-13EB-5815EEF5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E5D9C6-EB67-5938-F047-A8A0B9ED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Visualizing Your Model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2A3774F-D04E-73D7-2FE6-5D3B81D53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501360"/>
              </p:ext>
            </p:extLst>
          </p:nvPr>
        </p:nvGraphicFramePr>
        <p:xfrm>
          <a:off x="-747369" y="294408"/>
          <a:ext cx="3171138" cy="2305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382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5426D-CBFB-785D-4348-937128B2B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5485"/>
            <a:ext cx="4417337" cy="4225650"/>
          </a:xfrm>
        </p:spPr>
        <p:txBody>
          <a:bodyPr/>
          <a:lstStyle/>
          <a:p>
            <a:r>
              <a:rPr lang="en-US" dirty="0"/>
              <a:t>You can visualize the decision boundaries for a given model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 have lots of features you can use Principal Component Analysis (PCA) to create a 2D representation of the data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077A1-6EFD-1751-41FA-66A66F60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the model decide labels?</a:t>
            </a:r>
          </a:p>
        </p:txBody>
      </p:sp>
      <p:pic>
        <p:nvPicPr>
          <p:cNvPr id="2050" name="Picture 2" descr="data mining - Why are NLP and Machine Learning communities interested in deep learning? - Data ...">
            <a:extLst>
              <a:ext uri="{FF2B5EF4-FFF2-40B4-BE49-F238E27FC236}">
                <a16:creationId xmlns:a16="http://schemas.microsoft.com/office/drawing/2014/main" id="{9D24A009-CCD7-2714-7D43-FAA35F57CB4A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914400"/>
            <a:ext cx="67056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01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D03B-DA7D-0F0E-74AE-9CFF7675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model tell us? -  Trees/Hierarchies</a:t>
            </a:r>
          </a:p>
        </p:txBody>
      </p:sp>
      <p:pic>
        <p:nvPicPr>
          <p:cNvPr id="3076" name="Picture 4" descr="Hierarchical Clustering Essentials - Unsupervised Machine Learning ...">
            <a:extLst>
              <a:ext uri="{FF2B5EF4-FFF2-40B4-BE49-F238E27FC236}">
                <a16:creationId xmlns:a16="http://schemas.microsoft.com/office/drawing/2014/main" id="{06097521-710B-7A04-57BF-D86BAE52B7F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373" y="906949"/>
            <a:ext cx="4892309" cy="453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ecision Tree In Machine Learning Explained With Examples Upgrad ...">
            <a:extLst>
              <a:ext uri="{FF2B5EF4-FFF2-40B4-BE49-F238E27FC236}">
                <a16:creationId xmlns:a16="http://schemas.microsoft.com/office/drawing/2014/main" id="{6A7AC448-674C-964B-7DDD-5FE3FBC5451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1154703"/>
            <a:ext cx="5901466" cy="414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160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A458C-AC5B-46C8-4996-9BA8453B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Shapley Additive Values are a model agnostic method for interpreting model outputs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BD762-1D2B-D7C4-8DBD-EF3419FE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model value inputs?</a:t>
            </a:r>
          </a:p>
        </p:txBody>
      </p:sp>
      <p:pic>
        <p:nvPicPr>
          <p:cNvPr id="6146" name="Picture 2" descr="GitHub - slundberg/shap: A game theoretic approach to explain the output of any machine learning ...">
            <a:extLst>
              <a:ext uri="{FF2B5EF4-FFF2-40B4-BE49-F238E27FC236}">
                <a16:creationId xmlns:a16="http://schemas.microsoft.com/office/drawing/2014/main" id="{C05BC4C9-9EE2-952F-DD3E-AA588AB6405C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633" y="2039687"/>
            <a:ext cx="7073900" cy="387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999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FDE3-CA1B-91D2-F0AD-4580F652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model looking at?:</a:t>
            </a:r>
          </a:p>
        </p:txBody>
      </p:sp>
      <p:pic>
        <p:nvPicPr>
          <p:cNvPr id="11266" name="Picture 2" descr="PyTorch 1.3 adds mobile, privacy, quantization, and named tensors | PyTorch">
            <a:extLst>
              <a:ext uri="{FF2B5EF4-FFF2-40B4-BE49-F238E27FC236}">
                <a16:creationId xmlns:a16="http://schemas.microsoft.com/office/drawing/2014/main" id="{317F60CD-7A2A-4A26-56D3-D083880F0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66" y="1981729"/>
            <a:ext cx="6269477" cy="366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aptum for Bert Sentence Classification · Issue #249 · pytorch/captum · GitHub">
            <a:extLst>
              <a:ext uri="{FF2B5EF4-FFF2-40B4-BE49-F238E27FC236}">
                <a16:creationId xmlns:a16="http://schemas.microsoft.com/office/drawing/2014/main" id="{70A5B046-8CAD-085C-6BCC-146E55F4F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891" y="1801831"/>
            <a:ext cx="4924143" cy="402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11C1B7-A684-332B-0ADC-8FC288F00F37}"/>
              </a:ext>
            </a:extLst>
          </p:cNvPr>
          <p:cNvSpPr txBox="1"/>
          <p:nvPr/>
        </p:nvSpPr>
        <p:spPr>
          <a:xfrm>
            <a:off x="1873770" y="564620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uses captum.ai for PyTorch</a:t>
            </a:r>
          </a:p>
        </p:txBody>
      </p:sp>
    </p:spTree>
    <p:extLst>
      <p:ext uri="{BB962C8B-B14F-4D97-AF65-F5344CB8AC3E}">
        <p14:creationId xmlns:p14="http://schemas.microsoft.com/office/powerpoint/2010/main" val="1863127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89E0-69ED-BC7D-4CFD-A51A6FDB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6F80CF-A5FD-9687-5959-300BF998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Presenting Results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42C80AA-E9BA-3779-5566-4A8EBE93B8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747369" y="294408"/>
          <a:ext cx="3171138" cy="2305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454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DE6FB-A9F8-8FF4-749B-C431DE2D5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835" y="75414"/>
            <a:ext cx="8125905" cy="604495"/>
          </a:xfrm>
        </p:spPr>
        <p:txBody>
          <a:bodyPr anchor="b">
            <a:normAutofit/>
          </a:bodyPr>
          <a:lstStyle/>
          <a:p>
            <a:r>
              <a:rPr lang="en-US" sz="3600" spc="600" dirty="0"/>
              <a:t>Big Picture | ”Storytelling”</a:t>
            </a:r>
          </a:p>
        </p:txBody>
      </p:sp>
      <p:pic>
        <p:nvPicPr>
          <p:cNvPr id="6148" name="Picture 4" descr="What We Eat Makes a Difference">
            <a:extLst>
              <a:ext uri="{FF2B5EF4-FFF2-40B4-BE49-F238E27FC236}">
                <a16:creationId xmlns:a16="http://schemas.microsoft.com/office/drawing/2014/main" id="{A5769386-44B9-20A0-E647-92D5F5CAE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4"/>
          <a:stretch>
            <a:fillRect/>
          </a:stretch>
        </p:blipFill>
        <p:spPr bwMode="auto">
          <a:xfrm>
            <a:off x="392782" y="679909"/>
            <a:ext cx="11406433" cy="529786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05810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ACFD-C2DA-C6DF-C0FF-03007BE2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57200"/>
            <a:ext cx="393276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Recommended Charts/Ideas</a:t>
            </a:r>
          </a:p>
        </p:txBody>
      </p:sp>
      <p:pic>
        <p:nvPicPr>
          <p:cNvPr id="7170" name="Picture 2" descr="Are Viewers Expecting a Story? Lightning Talk from the DATAcated Expo ...">
            <a:extLst>
              <a:ext uri="{FF2B5EF4-FFF2-40B4-BE49-F238E27FC236}">
                <a16:creationId xmlns:a16="http://schemas.microsoft.com/office/drawing/2014/main" id="{81F51A65-C664-9CC4-ECF2-9D377FDC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53780" y="1103363"/>
            <a:ext cx="6912643" cy="388836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846F9-4A1B-6CB2-0E22-BEA98157D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2274850"/>
            <a:ext cx="3932767" cy="316628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Stick to bar-charts &amp; line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 particular feature is important highlight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consistent theme across the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proper formatting and include labels where appropriate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context via footnotes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3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2B21-71ED-7190-4B92-5EB3FC4A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Avoid</a:t>
            </a:r>
            <a:r>
              <a:rPr lang="en-US" dirty="0"/>
              <a:t> </a:t>
            </a:r>
            <a:r>
              <a:rPr lang="en-US" sz="4000" dirty="0"/>
              <a:t>These…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42EB1-A77B-3F2F-162C-A674024BF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time and place for charts of all kinds, but some charts work better than others (generally…)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Charts that make it difficult to visually understand relationships (e.g. area charts of any kind) should be avoided unless perfectly suited to the message you’re conveying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 color purposely</a:t>
            </a:r>
            <a:r>
              <a:rPr lang="en-US" dirty="0"/>
              <a:t> and avoid oversaturating the page with </a:t>
            </a:r>
            <a:r>
              <a:rPr lang="en-US" i="1" dirty="0"/>
              <a:t>noise</a:t>
            </a:r>
          </a:p>
        </p:txBody>
      </p:sp>
      <p:pic>
        <p:nvPicPr>
          <p:cNvPr id="8196" name="Picture 4" descr="Pie Chart - Examples, Formula, Definition, Making">
            <a:extLst>
              <a:ext uri="{FF2B5EF4-FFF2-40B4-BE49-F238E27FC236}">
                <a16:creationId xmlns:a16="http://schemas.microsoft.com/office/drawing/2014/main" id="{D13C3206-1F09-14DC-492F-C9DCE4E2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574" y="474257"/>
            <a:ext cx="2967660" cy="31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raph, chart, 3D. ~ Web Elements ~ Creative Market">
            <a:extLst>
              <a:ext uri="{FF2B5EF4-FFF2-40B4-BE49-F238E27FC236}">
                <a16:creationId xmlns:a16="http://schemas.microsoft.com/office/drawing/2014/main" id="{8CCAB631-A3F1-03A5-D532-67E4B4C0C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600" y="279400"/>
            <a:ext cx="3329399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93750-606B-CB5A-7F51-7ED9E4DEA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514" y="4287950"/>
            <a:ext cx="4313768" cy="2306371"/>
          </a:xfrm>
          <a:prstGeom prst="rect">
            <a:avLst/>
          </a:prstGeom>
        </p:spPr>
      </p:pic>
      <p:pic>
        <p:nvPicPr>
          <p:cNvPr id="8206" name="Picture 14" descr="Python Charts - Radar Charts in Matplotlib">
            <a:extLst>
              <a:ext uri="{FF2B5EF4-FFF2-40B4-BE49-F238E27FC236}">
                <a16:creationId xmlns:a16="http://schemas.microsoft.com/office/drawing/2014/main" id="{26E68D4A-1299-F5DB-7034-0EE0DB994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028" y="3403177"/>
            <a:ext cx="3093979" cy="250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4552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732DF-9A56-3838-DF68-C88C7530A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Performance Indicators (KPIs)</a:t>
            </a:r>
          </a:p>
          <a:p>
            <a:r>
              <a:rPr lang="en-US" sz="3200" dirty="0"/>
              <a:t>Basic Charts work Best (Lines &amp; Bars)</a:t>
            </a:r>
          </a:p>
          <a:p>
            <a:r>
              <a:rPr lang="en-US" sz="3200" dirty="0"/>
              <a:t>Maintain consistent schemes throughout any report</a:t>
            </a:r>
          </a:p>
          <a:p>
            <a:r>
              <a:rPr lang="en-US" sz="3200" dirty="0"/>
              <a:t>Add any important discoveries as footnotes within report</a:t>
            </a:r>
          </a:p>
          <a:p>
            <a:r>
              <a:rPr lang="en-US" sz="3200" dirty="0"/>
              <a:t>Anticipate potential end user questions and investigations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8181C-38E8-3EE1-377C-71B8ABDC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Consider…</a:t>
            </a:r>
          </a:p>
        </p:txBody>
      </p:sp>
    </p:spTree>
    <p:extLst>
      <p:ext uri="{BB962C8B-B14F-4D97-AF65-F5344CB8AC3E}">
        <p14:creationId xmlns:p14="http://schemas.microsoft.com/office/powerpoint/2010/main" val="17383659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ABAB01-45ED-4DC4-6C8D-C3F1DD0E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Remarks</a:t>
            </a:r>
          </a:p>
        </p:txBody>
      </p:sp>
      <p:pic>
        <p:nvPicPr>
          <p:cNvPr id="8" name="Graphic 7" descr="Completed with solid fill">
            <a:extLst>
              <a:ext uri="{FF2B5EF4-FFF2-40B4-BE49-F238E27FC236}">
                <a16:creationId xmlns:a16="http://schemas.microsoft.com/office/drawing/2014/main" id="{65EBF3F6-1B41-2B5C-24BC-550560A58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451708"/>
            <a:ext cx="1384169" cy="138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06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732DF-9A56-3838-DF68-C88C7530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5484"/>
            <a:ext cx="11429999" cy="488655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Be the expert</a:t>
            </a:r>
          </a:p>
          <a:p>
            <a:endParaRPr lang="en-US" sz="4000" dirty="0"/>
          </a:p>
          <a:p>
            <a:r>
              <a:rPr lang="en-US" sz="4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Focus on the end-use</a:t>
            </a:r>
          </a:p>
          <a:p>
            <a:endParaRPr lang="en-US" sz="4000" b="1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  <a:p>
            <a:r>
              <a:rPr lang="en-US" sz="4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Your work is a platform</a:t>
            </a:r>
            <a:endParaRPr lang="en-US" sz="4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8181C-38E8-3EE1-377C-71B8ABDC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Keep This In Mind</a:t>
            </a:r>
          </a:p>
        </p:txBody>
      </p:sp>
    </p:spTree>
    <p:extLst>
      <p:ext uri="{BB962C8B-B14F-4D97-AF65-F5344CB8AC3E}">
        <p14:creationId xmlns:p14="http://schemas.microsoft.com/office/powerpoint/2010/main" val="2346900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FD575B-4C7B-53E5-06F4-2F8EAC2C4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250830"/>
              </p:ext>
            </p:extLst>
          </p:nvPr>
        </p:nvGraphicFramePr>
        <p:xfrm>
          <a:off x="381000" y="1216025"/>
          <a:ext cx="11430000" cy="4224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FECB32-61AB-30F8-77D6-FB641695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alpha val="80000"/>
                  </a:schemeClr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9689938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89D26C-DB0A-CC8A-02CD-70A2567E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E0D26-D2FB-FCF8-4B68-E0C89DC54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108" y="4441369"/>
            <a:ext cx="8906692" cy="1189885"/>
          </a:xfrm>
        </p:spPr>
        <p:txBody>
          <a:bodyPr>
            <a:normAutofit/>
          </a:bodyPr>
          <a:lstStyle/>
          <a:p>
            <a:r>
              <a:rPr lang="en-US" dirty="0"/>
              <a:t>Adrian Gallard | Data Analyst</a:t>
            </a:r>
          </a:p>
          <a:p>
            <a:r>
              <a:rPr lang="en-US" dirty="0">
                <a:hlinkClick r:id="rId2"/>
              </a:rPr>
              <a:t>agallard3@gatech.com</a:t>
            </a:r>
            <a:endParaRPr lang="en-US" dirty="0"/>
          </a:p>
          <a:p>
            <a:r>
              <a:rPr lang="en-US" dirty="0">
                <a:hlinkClick r:id="rId3"/>
              </a:rPr>
              <a:t>https://github.com/ajgallard/vip</a:t>
            </a:r>
            <a:r>
              <a:rPr lang="en-US" dirty="0"/>
              <a:t> </a:t>
            </a:r>
          </a:p>
        </p:txBody>
      </p:sp>
      <p:pic>
        <p:nvPicPr>
          <p:cNvPr id="3" name="Picture 2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45882FCC-881D-06F6-70E1-0713C3725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254" y="2184144"/>
            <a:ext cx="2065256" cy="2065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4C73B-FC4B-2EED-E080-80D690E363F0}"/>
              </a:ext>
            </a:extLst>
          </p:cNvPr>
          <p:cNvSpPr txBox="1"/>
          <p:nvPr/>
        </p:nvSpPr>
        <p:spPr>
          <a:xfrm>
            <a:off x="8248453" y="4018567"/>
            <a:ext cx="206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GitHub Repo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6DA752-22D9-8977-29D5-98C5FC49F325}"/>
              </a:ext>
            </a:extLst>
          </p:cNvPr>
          <p:cNvSpPr/>
          <p:nvPr/>
        </p:nvSpPr>
        <p:spPr>
          <a:xfrm>
            <a:off x="7526911" y="1846217"/>
            <a:ext cx="3355942" cy="3026004"/>
          </a:xfrm>
          <a:prstGeom prst="ellipse">
            <a:avLst/>
          </a:prstGeom>
          <a:noFill/>
          <a:ln w="57150"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82286"/>
      </p:ext>
    </p:extLst>
  </p:cSld>
  <p:clrMapOvr>
    <a:masterClrMapping/>
  </p:clrMapOvr>
</p:sld>
</file>

<file path=ppt/theme/theme1.xml><?xml version="1.0" encoding="utf-8"?>
<a:theme xmlns:a="http://schemas.openxmlformats.org/drawingml/2006/main" name="GeorgiaTech">
  <a:themeElements>
    <a:clrScheme name="Custom 1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64CCC9"/>
      </a:accent2>
      <a:accent3>
        <a:srgbClr val="A3D233"/>
      </a:accent3>
      <a:accent4>
        <a:srgbClr val="EAAA00"/>
      </a:accent4>
      <a:accent5>
        <a:srgbClr val="008C95"/>
      </a:accent5>
      <a:accent6>
        <a:srgbClr val="7800FF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orgiaTech" id="{944D054A-4175-4E35-A300-3209FA320B77}" vid="{D1C25501-964D-40BB-A6E7-F3833BB83D86}"/>
    </a:ext>
  </a:extLst>
</a:theme>
</file>

<file path=ppt/theme/theme2.xml><?xml version="1.0" encoding="utf-8"?>
<a:theme xmlns:a="http://schemas.openxmlformats.org/drawingml/2006/main" name="Dividers">
  <a:themeElements>
    <a:clrScheme name="GA Tech 2021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EAAA00"/>
      </a:accent1>
      <a:accent2>
        <a:srgbClr val="64CCC9"/>
      </a:accent2>
      <a:accent3>
        <a:srgbClr val="A3D233"/>
      </a:accent3>
      <a:accent4>
        <a:srgbClr val="7800FF"/>
      </a:accent4>
      <a:accent5>
        <a:srgbClr val="008C95"/>
      </a:accent5>
      <a:accent6>
        <a:srgbClr val="E04F38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Content Page">
  <a:themeElements>
    <a:clrScheme name="GT Theme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003057"/>
      </a:accent2>
      <a:accent3>
        <a:srgbClr val="54585A"/>
      </a:accent3>
      <a:accent4>
        <a:srgbClr val="D6DBD4"/>
      </a:accent4>
      <a:accent5>
        <a:srgbClr val="F9F6E5"/>
      </a:accent5>
      <a:accent6>
        <a:srgbClr val="EAAA0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Tech_PPTtemplate_2021_wide" id="{E85096BA-033B-D848-B268-A76C8AE5D2A4}" vid="{C86BDF43-62E5-5C4C-BBB8-C9F54843079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FAFD1CBFD67749A33488AEDB8067C4" ma:contentTypeVersion="15" ma:contentTypeDescription="Create a new document." ma:contentTypeScope="" ma:versionID="36bed77370a8940fee992e43a4d49909">
  <xsd:schema xmlns:xsd="http://www.w3.org/2001/XMLSchema" xmlns:xs="http://www.w3.org/2001/XMLSchema" xmlns:p="http://schemas.microsoft.com/office/2006/metadata/properties" xmlns:ns3="df8b1b71-3959-4938-b8a5-d70d880a08af" xmlns:ns4="2f464eca-4fe0-4589-8e47-9f12eb30808d" targetNamespace="http://schemas.microsoft.com/office/2006/metadata/properties" ma:root="true" ma:fieldsID="1c6bdce21d9820715094632efb05bff3" ns3:_="" ns4:_="">
    <xsd:import namespace="df8b1b71-3959-4938-b8a5-d70d880a08af"/>
    <xsd:import namespace="2f464eca-4fe0-4589-8e47-9f12eb3080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DateTake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8b1b71-3959-4938-b8a5-d70d880a08a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64eca-4fe0-4589-8e47-9f12eb3080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464eca-4fe0-4589-8e47-9f12eb30808d" xsi:nil="true"/>
  </documentManagement>
</p:properties>
</file>

<file path=customXml/itemProps1.xml><?xml version="1.0" encoding="utf-8"?>
<ds:datastoreItem xmlns:ds="http://schemas.openxmlformats.org/officeDocument/2006/customXml" ds:itemID="{72966404-DB02-4295-9B24-1995EDF0D9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8b1b71-3959-4938-b8a5-d70d880a08af"/>
    <ds:schemaRef ds:uri="2f464eca-4fe0-4589-8e47-9f12eb308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B011F9-56F0-4DB8-AE28-1C2E30AF10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99978E-1747-4AE9-99F4-BAC34F39604B}">
  <ds:schemaRefs>
    <ds:schemaRef ds:uri="http://www.w3.org/XML/1998/namespace"/>
    <ds:schemaRef ds:uri="http://purl.org/dc/terms/"/>
    <ds:schemaRef ds:uri="2f464eca-4fe0-4589-8e47-9f12eb30808d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df8b1b71-3959-4938-b8a5-d70d880a08a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GeorgiaTech</Template>
  <TotalTime>661</TotalTime>
  <Words>1226</Words>
  <Application>Microsoft Office PowerPoint</Application>
  <PresentationFormat>Widescreen</PresentationFormat>
  <Paragraphs>196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Arial</vt:lpstr>
      <vt:lpstr>Roboto</vt:lpstr>
      <vt:lpstr>GeorgiaTech</vt:lpstr>
      <vt:lpstr>Dividers</vt:lpstr>
      <vt:lpstr>Content Page</vt:lpstr>
      <vt:lpstr>Working with Data</vt:lpstr>
      <vt:lpstr>Overall Agenda</vt:lpstr>
      <vt:lpstr>Workflow Stages</vt:lpstr>
      <vt:lpstr>Data Exploration</vt:lpstr>
      <vt:lpstr>Data Exploration</vt:lpstr>
      <vt:lpstr>Information</vt:lpstr>
      <vt:lpstr>Information</vt:lpstr>
      <vt:lpstr>What should I use?</vt:lpstr>
      <vt:lpstr>Visualizations</vt:lpstr>
      <vt:lpstr>Visual Clarity</vt:lpstr>
      <vt:lpstr>Pair-Plots</vt:lpstr>
      <vt:lpstr>Distributions</vt:lpstr>
      <vt:lpstr>Histograms</vt:lpstr>
      <vt:lpstr>Scatterplots</vt:lpstr>
      <vt:lpstr>Boxplots</vt:lpstr>
      <vt:lpstr>Heatmaps</vt:lpstr>
      <vt:lpstr>Project Dependent Visualizations</vt:lpstr>
      <vt:lpstr>Time-Series – Trends, Cycles, Seasons</vt:lpstr>
      <vt:lpstr>Network Analysis</vt:lpstr>
      <vt:lpstr>Note on Data Preprocessing</vt:lpstr>
      <vt:lpstr>Model Building</vt:lpstr>
      <vt:lpstr>Model Building</vt:lpstr>
      <vt:lpstr>Baselines &amp; Optimizations</vt:lpstr>
      <vt:lpstr>Basic Classifiers &amp; Regressions</vt:lpstr>
      <vt:lpstr>Transformers &amp; LLMs</vt:lpstr>
      <vt:lpstr>Model Building Stages</vt:lpstr>
      <vt:lpstr>Model Performance &amp; Selection</vt:lpstr>
      <vt:lpstr>What were the Results?:  Confusion Matrix</vt:lpstr>
      <vt:lpstr>Which model fits best? :  ROC / AUC</vt:lpstr>
      <vt:lpstr>Which model fits best? :  Precision-Recall Curve</vt:lpstr>
      <vt:lpstr>How did the model learn?</vt:lpstr>
      <vt:lpstr>Show Your Work</vt:lpstr>
      <vt:lpstr>Showing your work</vt:lpstr>
      <vt:lpstr>Visualizing Your Model</vt:lpstr>
      <vt:lpstr>How does the model decide labels?</vt:lpstr>
      <vt:lpstr>What does the model tell us? -  Trees/Hierarchies</vt:lpstr>
      <vt:lpstr>How does the model value inputs?</vt:lpstr>
      <vt:lpstr>What is the model looking at?:</vt:lpstr>
      <vt:lpstr>Presenting Results</vt:lpstr>
      <vt:lpstr>Big Picture | ”Storytelling”</vt:lpstr>
      <vt:lpstr>Recommended Charts/Ideas</vt:lpstr>
      <vt:lpstr>Avoid These…</vt:lpstr>
      <vt:lpstr>Things to Consider…</vt:lpstr>
      <vt:lpstr>Closing Remarks</vt:lpstr>
      <vt:lpstr>Keep This In Mind</vt:lpstr>
      <vt:lpstr>Next Steps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Gallard, Adrian J</dc:creator>
  <cp:lastModifiedBy>Adrian Gallard</cp:lastModifiedBy>
  <cp:revision>34</cp:revision>
  <dcterms:created xsi:type="dcterms:W3CDTF">2024-09-16T18:23:19Z</dcterms:created>
  <dcterms:modified xsi:type="dcterms:W3CDTF">2026-10-13T20:13:00Z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0x0101009AFAFD1CBFD67749A33488AEDB8067C4</vt:lpwstr>
  </property>
</Properties>
</file>